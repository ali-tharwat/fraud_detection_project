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y="6858000" cx="12192000"/>
  <p:notesSz cx="6858000" cy="9144000"/>
  <p:embeddedFontLst>
    <p:embeddedFont>
      <p:font typeface="Roboto Condensed"/>
      <p:regular r:id="rId39"/>
      <p:bold r:id="rId40"/>
      <p:italic r:id="rId41"/>
      <p:boldItalic r:id="rId42"/>
    </p:embeddedFont>
    <p:embeddedFont>
      <p:font typeface="Barlow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09C514A-5536-4AEA-9154-31F9F0F49BC7}">
  <a:tblStyle styleId="{009C514A-5536-4AEA-9154-31F9F0F49BC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obotoCondensed-bold.fntdata"/><Relationship Id="rId20" Type="http://schemas.openxmlformats.org/officeDocument/2006/relationships/slide" Target="slides/slide14.xml"/><Relationship Id="rId42" Type="http://schemas.openxmlformats.org/officeDocument/2006/relationships/font" Target="fonts/RobotoCondensed-boldItalic.fntdata"/><Relationship Id="rId41" Type="http://schemas.openxmlformats.org/officeDocument/2006/relationships/font" Target="fonts/RobotoCondensed-italic.fntdata"/><Relationship Id="rId22" Type="http://schemas.openxmlformats.org/officeDocument/2006/relationships/slide" Target="slides/slide16.xml"/><Relationship Id="rId44" Type="http://schemas.openxmlformats.org/officeDocument/2006/relationships/font" Target="fonts/Barlow-bold.fntdata"/><Relationship Id="rId21" Type="http://schemas.openxmlformats.org/officeDocument/2006/relationships/slide" Target="slides/slide15.xml"/><Relationship Id="rId43" Type="http://schemas.openxmlformats.org/officeDocument/2006/relationships/font" Target="fonts/Barlow-regular.fntdata"/><Relationship Id="rId24" Type="http://schemas.openxmlformats.org/officeDocument/2006/relationships/slide" Target="slides/slide18.xml"/><Relationship Id="rId46" Type="http://schemas.openxmlformats.org/officeDocument/2006/relationships/font" Target="fonts/Barlow-boldItalic.fntdata"/><Relationship Id="rId23" Type="http://schemas.openxmlformats.org/officeDocument/2006/relationships/slide" Target="slides/slide17.xml"/><Relationship Id="rId45" Type="http://schemas.openxmlformats.org/officeDocument/2006/relationships/font" Target="fonts/Barlow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font" Target="fonts/RobotoCondensed-regular.fntdata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ad3cbc0e5c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g3ad3cbc0e5c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adafd53fd1_0_1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g3adafd53fd1_0_16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3adafd53fd1_0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g3adafd53fd1_0_24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adafd53fd1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g3adafd53fd1_0_26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adafd53fd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g3adafd53fd1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adafd53fd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g3adafd53fd1_0_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6.png"/><Relationship Id="rId4" Type="http://schemas.openxmlformats.org/officeDocument/2006/relationships/image" Target="../media/image3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1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12.png"/><Relationship Id="rId6" Type="http://schemas.openxmlformats.org/officeDocument/2006/relationships/image" Target="../media/image2.png"/><Relationship Id="rId7" Type="http://schemas.openxmlformats.org/officeDocument/2006/relationships/image" Target="../media/image2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9" Type="http://schemas.openxmlformats.org/officeDocument/2006/relationships/image" Target="../media/image11.png"/><Relationship Id="rId5" Type="http://schemas.openxmlformats.org/officeDocument/2006/relationships/image" Target="../media/image22.png"/><Relationship Id="rId6" Type="http://schemas.openxmlformats.org/officeDocument/2006/relationships/image" Target="../media/image7.png"/><Relationship Id="rId7" Type="http://schemas.openxmlformats.org/officeDocument/2006/relationships/image" Target="../media/image4.png"/><Relationship Id="rId8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23.png"/><Relationship Id="rId5" Type="http://schemas.openxmlformats.org/officeDocument/2006/relationships/image" Target="../media/image15.png"/><Relationship Id="rId6" Type="http://schemas.openxmlformats.org/officeDocument/2006/relationships/image" Target="../media/image2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0.png"/><Relationship Id="rId4" Type="http://schemas.openxmlformats.org/officeDocument/2006/relationships/image" Target="../media/image9.png"/><Relationship Id="rId5" Type="http://schemas.openxmlformats.org/officeDocument/2006/relationships/image" Target="../media/image4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9.png"/><Relationship Id="rId5" Type="http://schemas.openxmlformats.org/officeDocument/2006/relationships/image" Target="../media/image14.png"/><Relationship Id="rId6" Type="http://schemas.openxmlformats.org/officeDocument/2006/relationships/image" Target="../media/image20.png"/><Relationship Id="rId7" Type="http://schemas.openxmlformats.org/officeDocument/2006/relationships/image" Target="../media/image26.png"/><Relationship Id="rId8" Type="http://schemas.openxmlformats.org/officeDocument/2006/relationships/image" Target="../media/image1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36.png"/><Relationship Id="rId5" Type="http://schemas.openxmlformats.org/officeDocument/2006/relationships/image" Target="../media/image2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6.png"/><Relationship Id="rId5" Type="http://schemas.openxmlformats.org/officeDocument/2006/relationships/image" Target="../media/image2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25.png"/><Relationship Id="rId5" Type="http://schemas.openxmlformats.org/officeDocument/2006/relationships/image" Target="../media/image40.png"/><Relationship Id="rId6" Type="http://schemas.openxmlformats.org/officeDocument/2006/relationships/image" Target="../media/image5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1.png"/><Relationship Id="rId4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1.png"/><Relationship Id="rId4" Type="http://schemas.openxmlformats.org/officeDocument/2006/relationships/image" Target="../media/image9.png"/><Relationship Id="rId5" Type="http://schemas.openxmlformats.org/officeDocument/2006/relationships/image" Target="../media/image3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3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29.png"/><Relationship Id="rId9" Type="http://schemas.openxmlformats.org/officeDocument/2006/relationships/image" Target="../media/image55.png"/><Relationship Id="rId5" Type="http://schemas.openxmlformats.org/officeDocument/2006/relationships/image" Target="../media/image32.png"/><Relationship Id="rId6" Type="http://schemas.openxmlformats.org/officeDocument/2006/relationships/image" Target="../media/image39.png"/><Relationship Id="rId7" Type="http://schemas.openxmlformats.org/officeDocument/2006/relationships/image" Target="../media/image38.png"/><Relationship Id="rId8" Type="http://schemas.openxmlformats.org/officeDocument/2006/relationships/image" Target="../media/image3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4.png"/><Relationship Id="rId4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Relationship Id="rId4" Type="http://schemas.openxmlformats.org/officeDocument/2006/relationships/image" Target="../media/image47.png"/><Relationship Id="rId5" Type="http://schemas.openxmlformats.org/officeDocument/2006/relationships/image" Target="../media/image45.png"/><Relationship Id="rId6" Type="http://schemas.openxmlformats.org/officeDocument/2006/relationships/image" Target="../media/image5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4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Relationship Id="rId4" Type="http://schemas.openxmlformats.org/officeDocument/2006/relationships/image" Target="../media/image5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9.png"/><Relationship Id="rId5" Type="http://schemas.openxmlformats.org/officeDocument/2006/relationships/image" Target="../media/image6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Relationship Id="rId4" Type="http://schemas.openxmlformats.org/officeDocument/2006/relationships/image" Target="../media/image49.png"/><Relationship Id="rId5" Type="http://schemas.openxmlformats.org/officeDocument/2006/relationships/image" Target="../media/image6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8.png"/><Relationship Id="rId4" Type="http://schemas.openxmlformats.org/officeDocument/2006/relationships/image" Target="../media/image66.png"/><Relationship Id="rId5" Type="http://schemas.openxmlformats.org/officeDocument/2006/relationships/image" Target="../media/image5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Relationship Id="rId4" Type="http://schemas.openxmlformats.org/officeDocument/2006/relationships/image" Target="../media/image53.png"/><Relationship Id="rId5" Type="http://schemas.openxmlformats.org/officeDocument/2006/relationships/image" Target="../media/image67.png"/><Relationship Id="rId6" Type="http://schemas.openxmlformats.org/officeDocument/2006/relationships/image" Target="../media/image6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Relationship Id="rId4" Type="http://schemas.openxmlformats.org/officeDocument/2006/relationships/image" Target="../media/image5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.png"/><Relationship Id="rId4" Type="http://schemas.openxmlformats.org/officeDocument/2006/relationships/image" Target="../media/image58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56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Relationship Id="rId7" Type="http://schemas.openxmlformats.org/officeDocument/2006/relationships/image" Target="../media/image64.png"/><Relationship Id="rId8" Type="http://schemas.openxmlformats.org/officeDocument/2006/relationships/image" Target="../media/image6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/>
          <p:nvPr/>
        </p:nvSpPr>
        <p:spPr>
          <a:xfrm>
            <a:off x="762000" y="476250"/>
            <a:ext cx="952500" cy="76200"/>
          </a:xfrm>
          <a:prstGeom prst="rect">
            <a:avLst/>
          </a:prstGeom>
          <a:solidFill>
            <a:srgbClr val="6D98D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78575" y="552450"/>
            <a:ext cx="5298300" cy="41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HEALTHCARE PROVIDER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6000" u="none" cap="none" strike="noStrik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FRAUD DETECTION SYSTEM</a:t>
            </a:r>
            <a:endParaRPr/>
          </a:p>
        </p:txBody>
      </p:sp>
      <p:pic>
        <p:nvPicPr>
          <p:cNvPr id="87" name="Google Shape;87;p13"/>
          <p:cNvPicPr preferRelativeResize="0"/>
          <p:nvPr/>
        </p:nvPicPr>
        <p:blipFill rotWithShape="1">
          <a:blip r:embed="rId4">
            <a:alphaModFix/>
          </a:blip>
          <a:srcRect b="0" l="0" r="0" t="34844"/>
          <a:stretch/>
        </p:blipFill>
        <p:spPr>
          <a:xfrm>
            <a:off x="4229700" y="1513277"/>
            <a:ext cx="7554275" cy="4922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428750"/>
            <a:ext cx="2524125" cy="4953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76625" y="1428750"/>
            <a:ext cx="2524125" cy="4953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5" name="Google Shape;95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91250" y="1428750"/>
            <a:ext cx="2524125" cy="4953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6" name="Google Shape;96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905875" y="1428750"/>
            <a:ext cx="2524125" cy="4953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762000" y="519112"/>
            <a:ext cx="4540567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PRESENTATION ROADMAP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10772775" y="476250"/>
            <a:ext cx="6572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/01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52500" y="1666875"/>
            <a:ext cx="225028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1. BUSINESS CONTEXT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3667125" y="1666875"/>
            <a:ext cx="225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2. DATA ENGINEERING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6381750" y="1666875"/>
            <a:ext cx="225028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3. MODELING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9096375" y="1666875"/>
            <a:ext cx="225028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4. IMPACT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1038225" y="203835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1095375" y="2038350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The $68B Problem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1038225" y="2295525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1095375" y="2295525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Fraud Types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1038225" y="255270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1095375" y="2552700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Objective Function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3752850" y="203835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3810000" y="2038350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Sources &amp; Quality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3752850" y="2295525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3810000" y="2295525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Deep Cleaning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3752850" y="255270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3810000" y="2552700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EDA Insights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3752850" y="2809875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3810000" y="2809875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Advanced Feature Eng.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6467475" y="203835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6524625" y="2038350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Handling Imbalance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6467475" y="2295525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6524625" y="2295525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Algorithm Selection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6467475" y="255270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22" name="Google Shape;122;p14"/>
          <p:cNvSpPr txBox="1"/>
          <p:nvPr/>
        </p:nvSpPr>
        <p:spPr>
          <a:xfrm>
            <a:off x="6524625" y="2552700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Training Efficiency</a:t>
            </a:r>
            <a:endParaRPr/>
          </a:p>
        </p:txBody>
      </p:sp>
      <p:sp>
        <p:nvSpPr>
          <p:cNvPr id="123" name="Google Shape;123;p14"/>
          <p:cNvSpPr txBox="1"/>
          <p:nvPr/>
        </p:nvSpPr>
        <p:spPr>
          <a:xfrm>
            <a:off x="6467475" y="2809875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6524625" y="2809875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Model Comparison</a:t>
            </a:r>
            <a:endParaRPr/>
          </a:p>
        </p:txBody>
      </p:sp>
      <p:sp>
        <p:nvSpPr>
          <p:cNvPr id="125" name="Google Shape;125;p14"/>
          <p:cNvSpPr txBox="1"/>
          <p:nvPr/>
        </p:nvSpPr>
        <p:spPr>
          <a:xfrm>
            <a:off x="9182100" y="203835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26" name="Google Shape;126;p14"/>
          <p:cNvSpPr txBox="1"/>
          <p:nvPr/>
        </p:nvSpPr>
        <p:spPr>
          <a:xfrm>
            <a:off x="9239250" y="2038350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Error Analysis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9182100" y="2295525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28" name="Google Shape;128;p14"/>
          <p:cNvSpPr txBox="1"/>
          <p:nvPr/>
        </p:nvSpPr>
        <p:spPr>
          <a:xfrm>
            <a:off x="9239250" y="2295525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Financial ROI</a:t>
            </a:r>
            <a:endParaRPr/>
          </a:p>
        </p:txBody>
      </p:sp>
      <p:sp>
        <p:nvSpPr>
          <p:cNvPr id="129" name="Google Shape;129;p14"/>
          <p:cNvSpPr txBox="1"/>
          <p:nvPr/>
        </p:nvSpPr>
        <p:spPr>
          <a:xfrm>
            <a:off x="9182100" y="255270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30" name="Google Shape;130;p14"/>
          <p:cNvSpPr txBox="1"/>
          <p:nvPr/>
        </p:nvSpPr>
        <p:spPr>
          <a:xfrm>
            <a:off x="9239250" y="2552700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Operational Workflow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>
            <a:off x="9182100" y="2809875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9239250" y="2809875"/>
            <a:ext cx="2000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Future Roadmap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5"/>
          <p:cNvSpPr txBox="1"/>
          <p:nvPr/>
        </p:nvSpPr>
        <p:spPr>
          <a:xfrm>
            <a:off x="762000" y="519112"/>
            <a:ext cx="4300537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BUSINESS CONTEXT</a:t>
            </a:r>
            <a:endParaRPr/>
          </a:p>
        </p:txBody>
      </p:sp>
      <p:sp>
        <p:nvSpPr>
          <p:cNvPr id="139" name="Google Shape;139;p15"/>
          <p:cNvSpPr txBox="1"/>
          <p:nvPr/>
        </p:nvSpPr>
        <p:spPr>
          <a:xfrm>
            <a:off x="10772775" y="476250"/>
            <a:ext cx="6572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/02</a:t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762000" y="2843212"/>
            <a:ext cx="5350668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CURRENT STATE: "PAY AND CHASE"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762000" y="3214687"/>
            <a:ext cx="5095875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CMS typically pays claims first and investigates later. This reactive model is inefficient.</a:t>
            </a:r>
            <a:endParaRPr/>
          </a:p>
        </p:txBody>
      </p:sp>
      <p:pic>
        <p:nvPicPr>
          <p:cNvPr descr="image.png" id="142" name="Google Shape;14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20537" y="776275"/>
            <a:ext cx="9525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5"/>
          <p:cNvSpPr txBox="1"/>
          <p:nvPr/>
        </p:nvSpPr>
        <p:spPr>
          <a:xfrm>
            <a:off x="7987968" y="1144525"/>
            <a:ext cx="2310300" cy="2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GOAL: PROACTIVE DETECTION</a:t>
            </a:r>
            <a:endParaRPr/>
          </a:p>
        </p:txBody>
      </p:sp>
      <p:pic>
        <p:nvPicPr>
          <p:cNvPr descr="image.png" id="144" name="Google Shape;144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4052887"/>
            <a:ext cx="47625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5" name="Google Shape;145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4624387"/>
            <a:ext cx="47625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5"/>
          <p:cNvSpPr txBox="1"/>
          <p:nvPr/>
        </p:nvSpPr>
        <p:spPr>
          <a:xfrm>
            <a:off x="1238250" y="4014787"/>
            <a:ext cx="10668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$68 Billion/Year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2084788" y="4167300"/>
            <a:ext cx="2705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Estimated lost due to fraud, waste, and abuse.</a:t>
            </a:r>
            <a:endParaRPr/>
          </a:p>
        </p:txBody>
      </p:sp>
      <p:sp>
        <p:nvSpPr>
          <p:cNvPr id="148" name="Google Shape;148;p15"/>
          <p:cNvSpPr txBox="1"/>
          <p:nvPr/>
        </p:nvSpPr>
        <p:spPr>
          <a:xfrm>
            <a:off x="1238250" y="4586287"/>
            <a:ext cx="147637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Resource Constraints</a:t>
            </a:r>
            <a:endParaRPr/>
          </a:p>
        </p:txBody>
      </p:sp>
      <p:sp>
        <p:nvSpPr>
          <p:cNvPr id="149" name="Google Shape;149;p15"/>
          <p:cNvSpPr txBox="1"/>
          <p:nvPr/>
        </p:nvSpPr>
        <p:spPr>
          <a:xfrm>
            <a:off x="1238250" y="4767262"/>
            <a:ext cx="31623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Manual investigators can only review &lt;1% of providers.</a:t>
            </a:r>
            <a:endParaRPr/>
          </a:p>
        </p:txBody>
      </p:sp>
      <p:pic>
        <p:nvPicPr>
          <p:cNvPr id="150" name="Google Shape;150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857875" y="2009000"/>
            <a:ext cx="5726026" cy="3819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5" name="Google Shape;15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619250"/>
            <a:ext cx="3365450" cy="2895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13200" y="1619250"/>
            <a:ext cx="3365450" cy="2895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8" name="Google Shape;15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4400" y="1619250"/>
            <a:ext cx="3365599" cy="289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6"/>
          <p:cNvSpPr txBox="1"/>
          <p:nvPr/>
        </p:nvSpPr>
        <p:spPr>
          <a:xfrm>
            <a:off x="762000" y="519112"/>
            <a:ext cx="3020377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 INVENTORY</a:t>
            </a:r>
            <a:endParaRPr/>
          </a:p>
        </p:txBody>
      </p:sp>
      <p:sp>
        <p:nvSpPr>
          <p:cNvPr id="160" name="Google Shape;160;p16"/>
          <p:cNvSpPr txBox="1"/>
          <p:nvPr/>
        </p:nvSpPr>
        <p:spPr>
          <a:xfrm>
            <a:off x="10772775" y="476250"/>
            <a:ext cx="6572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/03</a:t>
            </a:r>
            <a:endParaRPr/>
          </a:p>
        </p:txBody>
      </p:sp>
      <p:pic>
        <p:nvPicPr>
          <p:cNvPr descr="image.png" id="161" name="Google Shape;161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47750" y="1962150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6"/>
          <p:cNvSpPr txBox="1"/>
          <p:nvPr/>
        </p:nvSpPr>
        <p:spPr>
          <a:xfrm>
            <a:off x="1047750" y="2486025"/>
            <a:ext cx="2933647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BENEFICIARY DATA</a:t>
            </a:r>
            <a:endParaRPr/>
          </a:p>
        </p:txBody>
      </p:sp>
      <p:sp>
        <p:nvSpPr>
          <p:cNvPr id="163" name="Google Shape;163;p16"/>
          <p:cNvSpPr txBox="1"/>
          <p:nvPr/>
        </p:nvSpPr>
        <p:spPr>
          <a:xfrm>
            <a:off x="1047750" y="2847975"/>
            <a:ext cx="27939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138,556 Records</a:t>
            </a:r>
            <a:endParaRPr/>
          </a:p>
        </p:txBody>
      </p:sp>
      <p:pic>
        <p:nvPicPr>
          <p:cNvPr descr="image.png" id="164" name="Google Shape;164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98950" y="1962150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6"/>
          <p:cNvSpPr txBox="1"/>
          <p:nvPr/>
        </p:nvSpPr>
        <p:spPr>
          <a:xfrm>
            <a:off x="4698950" y="2486025"/>
            <a:ext cx="2933647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INPATIENT CLAIMS</a:t>
            </a:r>
            <a:endParaRPr/>
          </a:p>
        </p:txBody>
      </p:sp>
      <p:sp>
        <p:nvSpPr>
          <p:cNvPr id="166" name="Google Shape;166;p16"/>
          <p:cNvSpPr txBox="1"/>
          <p:nvPr/>
        </p:nvSpPr>
        <p:spPr>
          <a:xfrm>
            <a:off x="4698950" y="2847975"/>
            <a:ext cx="27939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40,474 Records</a:t>
            </a:r>
            <a:endParaRPr/>
          </a:p>
        </p:txBody>
      </p:sp>
      <p:pic>
        <p:nvPicPr>
          <p:cNvPr descr="image.png" id="167" name="Google Shape;167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50150" y="1962150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6"/>
          <p:cNvSpPr txBox="1"/>
          <p:nvPr/>
        </p:nvSpPr>
        <p:spPr>
          <a:xfrm>
            <a:off x="8350150" y="2486025"/>
            <a:ext cx="2933804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OUTPATIENT CLAIMS</a:t>
            </a:r>
            <a:endParaRPr/>
          </a:p>
        </p:txBody>
      </p:sp>
      <p:sp>
        <p:nvSpPr>
          <p:cNvPr id="169" name="Google Shape;169;p16"/>
          <p:cNvSpPr txBox="1"/>
          <p:nvPr/>
        </p:nvSpPr>
        <p:spPr>
          <a:xfrm>
            <a:off x="8350150" y="2847975"/>
            <a:ext cx="279409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517,737 Records</a:t>
            </a:r>
            <a:endParaRPr/>
          </a:p>
        </p:txBody>
      </p:sp>
      <p:sp>
        <p:nvSpPr>
          <p:cNvPr id="170" name="Google Shape;170;p16"/>
          <p:cNvSpPr txBox="1"/>
          <p:nvPr/>
        </p:nvSpPr>
        <p:spPr>
          <a:xfrm>
            <a:off x="990600" y="320040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71" name="Google Shape;171;p16"/>
          <p:cNvSpPr txBox="1"/>
          <p:nvPr/>
        </p:nvSpPr>
        <p:spPr>
          <a:xfrm>
            <a:off x="1047750" y="3200400"/>
            <a:ext cx="27939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Demographics (Age, Race, County)</a:t>
            </a:r>
            <a:endParaRPr/>
          </a:p>
        </p:txBody>
      </p:sp>
      <p:sp>
        <p:nvSpPr>
          <p:cNvPr id="172" name="Google Shape;172;p16"/>
          <p:cNvSpPr txBox="1"/>
          <p:nvPr/>
        </p:nvSpPr>
        <p:spPr>
          <a:xfrm>
            <a:off x="990600" y="3457575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73" name="Google Shape;173;p16"/>
          <p:cNvSpPr txBox="1"/>
          <p:nvPr/>
        </p:nvSpPr>
        <p:spPr>
          <a:xfrm>
            <a:off x="1047750" y="3457575"/>
            <a:ext cx="27939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Chronic Conditions (11 flags)</a:t>
            </a:r>
            <a:endParaRPr/>
          </a:p>
        </p:txBody>
      </p:sp>
      <p:sp>
        <p:nvSpPr>
          <p:cNvPr id="174" name="Google Shape;174;p16"/>
          <p:cNvSpPr txBox="1"/>
          <p:nvPr/>
        </p:nvSpPr>
        <p:spPr>
          <a:xfrm>
            <a:off x="990600" y="371475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75" name="Google Shape;175;p16"/>
          <p:cNvSpPr txBox="1"/>
          <p:nvPr/>
        </p:nvSpPr>
        <p:spPr>
          <a:xfrm>
            <a:off x="1047750" y="3714750"/>
            <a:ext cx="27939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Cost (Deductibles paid)</a:t>
            </a:r>
            <a:endParaRPr/>
          </a:p>
        </p:txBody>
      </p:sp>
      <p:sp>
        <p:nvSpPr>
          <p:cNvPr id="176" name="Google Shape;176;p16"/>
          <p:cNvSpPr txBox="1"/>
          <p:nvPr/>
        </p:nvSpPr>
        <p:spPr>
          <a:xfrm>
            <a:off x="4641800" y="320040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77" name="Google Shape;177;p16"/>
          <p:cNvSpPr txBox="1"/>
          <p:nvPr/>
        </p:nvSpPr>
        <p:spPr>
          <a:xfrm>
            <a:off x="4698950" y="3200400"/>
            <a:ext cx="27939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Admission/Discharge Dates</a:t>
            </a:r>
            <a:endParaRPr/>
          </a:p>
        </p:txBody>
      </p:sp>
      <p:sp>
        <p:nvSpPr>
          <p:cNvPr id="178" name="Google Shape;178;p16"/>
          <p:cNvSpPr txBox="1"/>
          <p:nvPr/>
        </p:nvSpPr>
        <p:spPr>
          <a:xfrm>
            <a:off x="4641800" y="3457575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79" name="Google Shape;179;p16"/>
          <p:cNvSpPr txBox="1"/>
          <p:nvPr/>
        </p:nvSpPr>
        <p:spPr>
          <a:xfrm>
            <a:off x="4698950" y="3457575"/>
            <a:ext cx="27939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Diagnosis Codes (ICD-9)</a:t>
            </a:r>
            <a:endParaRPr/>
          </a:p>
        </p:txBody>
      </p:sp>
      <p:sp>
        <p:nvSpPr>
          <p:cNvPr id="180" name="Google Shape;180;p16"/>
          <p:cNvSpPr txBox="1"/>
          <p:nvPr/>
        </p:nvSpPr>
        <p:spPr>
          <a:xfrm>
            <a:off x="4641800" y="371475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81" name="Google Shape;181;p16"/>
          <p:cNvSpPr txBox="1"/>
          <p:nvPr/>
        </p:nvSpPr>
        <p:spPr>
          <a:xfrm>
            <a:off x="4698950" y="3714750"/>
            <a:ext cx="27939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DRG Codes</a:t>
            </a:r>
            <a:endParaRPr/>
          </a:p>
        </p:txBody>
      </p:sp>
      <p:sp>
        <p:nvSpPr>
          <p:cNvPr id="182" name="Google Shape;182;p16"/>
          <p:cNvSpPr txBox="1"/>
          <p:nvPr/>
        </p:nvSpPr>
        <p:spPr>
          <a:xfrm>
            <a:off x="4641800" y="3971925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83" name="Google Shape;183;p16"/>
          <p:cNvSpPr txBox="1"/>
          <p:nvPr/>
        </p:nvSpPr>
        <p:spPr>
          <a:xfrm>
            <a:off x="4698950" y="3971925"/>
            <a:ext cx="27939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High Reimbursement Amounts</a:t>
            </a:r>
            <a:endParaRPr/>
          </a:p>
        </p:txBody>
      </p:sp>
      <p:sp>
        <p:nvSpPr>
          <p:cNvPr id="184" name="Google Shape;184;p16"/>
          <p:cNvSpPr txBox="1"/>
          <p:nvPr/>
        </p:nvSpPr>
        <p:spPr>
          <a:xfrm>
            <a:off x="8293000" y="320040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85" name="Google Shape;185;p16"/>
          <p:cNvSpPr txBox="1"/>
          <p:nvPr/>
        </p:nvSpPr>
        <p:spPr>
          <a:xfrm>
            <a:off x="8350150" y="3200400"/>
            <a:ext cx="279409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Procedure Codes</a:t>
            </a:r>
            <a:endParaRPr/>
          </a:p>
        </p:txBody>
      </p:sp>
      <p:sp>
        <p:nvSpPr>
          <p:cNvPr id="186" name="Google Shape;186;p16"/>
          <p:cNvSpPr txBox="1"/>
          <p:nvPr/>
        </p:nvSpPr>
        <p:spPr>
          <a:xfrm>
            <a:off x="8293000" y="3457575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87" name="Google Shape;187;p16"/>
          <p:cNvSpPr txBox="1"/>
          <p:nvPr/>
        </p:nvSpPr>
        <p:spPr>
          <a:xfrm>
            <a:off x="8350150" y="3457575"/>
            <a:ext cx="279409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Visiting Physicians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8293000" y="371475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189" name="Google Shape;189;p16"/>
          <p:cNvSpPr txBox="1"/>
          <p:nvPr/>
        </p:nvSpPr>
        <p:spPr>
          <a:xfrm>
            <a:off x="8350150" y="3714750"/>
            <a:ext cx="279409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High Volume / Low Cost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4" name="Google Shape;19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95" name="Google Shape;195;p17"/>
          <p:cNvGraphicFramePr/>
          <p:nvPr/>
        </p:nvGraphicFramePr>
        <p:xfrm>
          <a:off x="762000" y="16192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{009C514A-5536-4AEA-9154-31F9F0F49BC7}</a:tableStyleId>
              </a:tblPr>
              <a:tblGrid>
                <a:gridCol w="2667000"/>
                <a:gridCol w="2667000"/>
                <a:gridCol w="5334000"/>
              </a:tblGrid>
              <a:tr h="65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Feature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Issue Detected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Remediation Strategy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</a:tr>
              <a:tr h="65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Deductibles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High missingness in Outpatient data.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Conditional Imputation:</a:t>
                      </a: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 Inpatient defaults to $1,068 (Medicare standard). Outpatient defaults to $0.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Date Logic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32 records where `AdmissionDt` &gt; `DischargeDt`.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Row Removal:</a:t>
                      </a: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 These illogical records represented &lt;0.01% of data and were dropped to preserve feature integrity.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  <a:tr h="65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Categorical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`RenalDiseaseIndicator` coded as 'Y'/'0'.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Binarization:</a:t>
                      </a: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 Converted to 1/0 boolean flag for model compatibility.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Gender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Coded as 1/2.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Standardization:</a:t>
                      </a: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 Mapped to 0/1 logic for consistency with other binary flags.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196" name="Google Shape;196;p17"/>
          <p:cNvSpPr txBox="1"/>
          <p:nvPr/>
        </p:nvSpPr>
        <p:spPr>
          <a:xfrm>
            <a:off x="762000" y="519112"/>
            <a:ext cx="3690461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 QUALITY AUDIT</a:t>
            </a:r>
            <a:endParaRPr/>
          </a:p>
        </p:txBody>
      </p:sp>
      <p:sp>
        <p:nvSpPr>
          <p:cNvPr id="197" name="Google Shape;197;p17"/>
          <p:cNvSpPr txBox="1"/>
          <p:nvPr/>
        </p:nvSpPr>
        <p:spPr>
          <a:xfrm>
            <a:off x="10772775" y="476250"/>
            <a:ext cx="6572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/04</a:t>
            </a:r>
            <a:endParaRPr/>
          </a:p>
        </p:txBody>
      </p:sp>
      <p:sp>
        <p:nvSpPr>
          <p:cNvPr id="198" name="Google Shape;198;p17"/>
          <p:cNvSpPr/>
          <p:nvPr/>
        </p:nvSpPr>
        <p:spPr>
          <a:xfrm>
            <a:off x="762000" y="2843212"/>
            <a:ext cx="2667000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7"/>
          <p:cNvSpPr/>
          <p:nvPr/>
        </p:nvSpPr>
        <p:spPr>
          <a:xfrm>
            <a:off x="3429000" y="2843212"/>
            <a:ext cx="2667000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7"/>
          <p:cNvSpPr/>
          <p:nvPr/>
        </p:nvSpPr>
        <p:spPr>
          <a:xfrm>
            <a:off x="6096000" y="2843212"/>
            <a:ext cx="5334000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7"/>
          <p:cNvSpPr/>
          <p:nvPr/>
        </p:nvSpPr>
        <p:spPr>
          <a:xfrm>
            <a:off x="762000" y="3595687"/>
            <a:ext cx="2667000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7"/>
          <p:cNvSpPr/>
          <p:nvPr/>
        </p:nvSpPr>
        <p:spPr>
          <a:xfrm>
            <a:off x="3429000" y="3595687"/>
            <a:ext cx="2667000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7"/>
          <p:cNvSpPr/>
          <p:nvPr/>
        </p:nvSpPr>
        <p:spPr>
          <a:xfrm>
            <a:off x="6096000" y="3595687"/>
            <a:ext cx="5334000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7"/>
          <p:cNvSpPr/>
          <p:nvPr/>
        </p:nvSpPr>
        <p:spPr>
          <a:xfrm>
            <a:off x="762000" y="4348162"/>
            <a:ext cx="2667000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7"/>
          <p:cNvSpPr/>
          <p:nvPr/>
        </p:nvSpPr>
        <p:spPr>
          <a:xfrm>
            <a:off x="3429000" y="4348162"/>
            <a:ext cx="2667000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7"/>
          <p:cNvSpPr/>
          <p:nvPr/>
        </p:nvSpPr>
        <p:spPr>
          <a:xfrm>
            <a:off x="6096000" y="4348162"/>
            <a:ext cx="5334000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1" name="Google Shape;2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3143250"/>
            <a:ext cx="5095875" cy="95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3819525"/>
            <a:ext cx="5095875" cy="95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4" name="Google Shape;21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4495800"/>
            <a:ext cx="5095875" cy="95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18"/>
          <p:cNvSpPr txBox="1"/>
          <p:nvPr/>
        </p:nvSpPr>
        <p:spPr>
          <a:xfrm>
            <a:off x="762000" y="519112"/>
            <a:ext cx="5780722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EDA: GEOGRAPHIC DISTRIBUTION</a:t>
            </a:r>
            <a:endParaRPr/>
          </a:p>
        </p:txBody>
      </p:sp>
      <p:sp>
        <p:nvSpPr>
          <p:cNvPr id="216" name="Google Shape;216;p18"/>
          <p:cNvSpPr txBox="1"/>
          <p:nvPr/>
        </p:nvSpPr>
        <p:spPr>
          <a:xfrm>
            <a:off x="10772775" y="476250"/>
            <a:ext cx="6572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/05</a:t>
            </a:r>
            <a:endParaRPr/>
          </a:p>
        </p:txBody>
      </p:sp>
      <p:sp>
        <p:nvSpPr>
          <p:cNvPr id="217" name="Google Shape;217;p18"/>
          <p:cNvSpPr txBox="1"/>
          <p:nvPr/>
        </p:nvSpPr>
        <p:spPr>
          <a:xfrm>
            <a:off x="6334125" y="2571750"/>
            <a:ext cx="5350668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CONCENTRATION ANALYSIS</a:t>
            </a:r>
            <a:endParaRPr/>
          </a:p>
        </p:txBody>
      </p:sp>
      <p:sp>
        <p:nvSpPr>
          <p:cNvPr id="218" name="Google Shape;218;p18"/>
          <p:cNvSpPr txBox="1"/>
          <p:nvPr/>
        </p:nvSpPr>
        <p:spPr>
          <a:xfrm>
            <a:off x="6334125" y="4781550"/>
            <a:ext cx="50958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Barlow"/>
                <a:ea typeface="Barlow"/>
                <a:cs typeface="Barlow"/>
                <a:sym typeface="Barlow"/>
              </a:rPr>
              <a:t>*Note: While volume is high, fraud </a:t>
            </a:r>
            <a:r>
              <a:rPr b="0" i="1" lang="en-US" sz="1200" u="none" cap="none" strike="noStrike">
                <a:solidFill>
                  <a:srgbClr val="666666"/>
                </a:solidFill>
                <a:latin typeface="Barlow"/>
                <a:ea typeface="Barlow"/>
                <a:cs typeface="Barlow"/>
                <a:sym typeface="Barlow"/>
              </a:rPr>
              <a:t>rates</a:t>
            </a:r>
            <a:r>
              <a:rPr b="0" i="0" lang="en-US" sz="1200" u="none" cap="none" strike="noStrike">
                <a:solidFill>
                  <a:srgbClr val="666666"/>
                </a:solidFill>
                <a:latin typeface="Barlow"/>
                <a:ea typeface="Barlow"/>
                <a:cs typeface="Barlow"/>
                <a:sym typeface="Barlow"/>
              </a:rPr>
              <a:t> were distributed across states, indicating fraud is not strictly geo-locked.</a:t>
            </a:r>
            <a:endParaRPr/>
          </a:p>
        </p:txBody>
      </p:sp>
      <p:pic>
        <p:nvPicPr>
          <p:cNvPr descr="image.png" id="219" name="Google Shape;219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84150" y="352437"/>
            <a:ext cx="1285875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8"/>
          <p:cNvSpPr txBox="1"/>
          <p:nvPr/>
        </p:nvSpPr>
        <p:spPr>
          <a:xfrm>
            <a:off x="6279337" y="2215387"/>
            <a:ext cx="2095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Top States by Claim Volume</a:t>
            </a:r>
            <a:endParaRPr/>
          </a:p>
        </p:txBody>
      </p:sp>
      <p:sp>
        <p:nvSpPr>
          <p:cNvPr id="221" name="Google Shape;221;p18"/>
          <p:cNvSpPr txBox="1"/>
          <p:nvPr/>
        </p:nvSpPr>
        <p:spPr>
          <a:xfrm>
            <a:off x="6334125" y="2752725"/>
            <a:ext cx="5095800" cy="4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1. California (CA)</a:t>
            </a:r>
            <a:endParaRPr/>
          </a:p>
        </p:txBody>
      </p:sp>
      <p:sp>
        <p:nvSpPr>
          <p:cNvPr id="222" name="Google Shape;222;p18"/>
          <p:cNvSpPr txBox="1"/>
          <p:nvPr/>
        </p:nvSpPr>
        <p:spPr>
          <a:xfrm>
            <a:off x="6334125" y="3429000"/>
            <a:ext cx="5095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35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r>
              <a:rPr b="1" lang="en-US" sz="135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. Florida (FL)</a:t>
            </a:r>
            <a:endParaRPr/>
          </a:p>
        </p:txBody>
      </p:sp>
      <p:sp>
        <p:nvSpPr>
          <p:cNvPr id="223" name="Google Shape;223;p18"/>
          <p:cNvSpPr txBox="1"/>
          <p:nvPr/>
        </p:nvSpPr>
        <p:spPr>
          <a:xfrm>
            <a:off x="6334125" y="4105275"/>
            <a:ext cx="5095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3. NewYork</a:t>
            </a:r>
            <a:endParaRPr/>
          </a:p>
        </p:txBody>
      </p:sp>
      <p:sp>
        <p:nvSpPr>
          <p:cNvPr id="224" name="Google Shape;224;p18"/>
          <p:cNvSpPr/>
          <p:nvPr/>
        </p:nvSpPr>
        <p:spPr>
          <a:xfrm>
            <a:off x="6334125" y="3143250"/>
            <a:ext cx="4076700" cy="95250"/>
          </a:xfrm>
          <a:prstGeom prst="rect">
            <a:avLst/>
          </a:prstGeom>
          <a:solidFill>
            <a:srgbClr val="0E38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8"/>
          <p:cNvSpPr/>
          <p:nvPr/>
        </p:nvSpPr>
        <p:spPr>
          <a:xfrm>
            <a:off x="6334125" y="3819525"/>
            <a:ext cx="3312318" cy="95250"/>
          </a:xfrm>
          <a:prstGeom prst="rect">
            <a:avLst/>
          </a:prstGeom>
          <a:solidFill>
            <a:srgbClr val="0E38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8"/>
          <p:cNvSpPr/>
          <p:nvPr/>
        </p:nvSpPr>
        <p:spPr>
          <a:xfrm>
            <a:off x="6334125" y="4495800"/>
            <a:ext cx="3057525" cy="95250"/>
          </a:xfrm>
          <a:prstGeom prst="rect">
            <a:avLst/>
          </a:prstGeom>
          <a:solidFill>
            <a:srgbClr val="0E38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7" name="Google Shape;227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375" y="1709725"/>
            <a:ext cx="6103175" cy="3744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2" name="Google Shape;232;p19"/>
          <p:cNvPicPr preferRelativeResize="0"/>
          <p:nvPr/>
        </p:nvPicPr>
        <p:blipFill rotWithShape="1">
          <a:blip r:embed="rId3">
            <a:alphaModFix/>
          </a:blip>
          <a:srcRect b="1870" l="-1360" r="1359" t="-1870"/>
          <a:stretch/>
        </p:blipFill>
        <p:spPr>
          <a:xfrm>
            <a:off x="762000" y="1523988"/>
            <a:ext cx="10668000" cy="4953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  <p:pic>
        <p:nvPicPr>
          <p:cNvPr descr="image.png" id="233" name="Google Shape;23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19"/>
          <p:cNvSpPr txBox="1"/>
          <p:nvPr/>
        </p:nvSpPr>
        <p:spPr>
          <a:xfrm>
            <a:off x="762000" y="519112"/>
            <a:ext cx="600075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EDA: THE FINANCIAL FINGERPRINT</a:t>
            </a:r>
            <a:endParaRPr/>
          </a:p>
        </p:txBody>
      </p:sp>
      <p:sp>
        <p:nvSpPr>
          <p:cNvPr id="235" name="Google Shape;235;p19"/>
          <p:cNvSpPr txBox="1"/>
          <p:nvPr/>
        </p:nvSpPr>
        <p:spPr>
          <a:xfrm>
            <a:off x="10772775" y="476250"/>
            <a:ext cx="6572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/06</a:t>
            </a: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6334125" y="2905125"/>
            <a:ext cx="5350668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KEY INSIGHT: REIMBURSEMENT SKEW</a:t>
            </a:r>
            <a:endParaRPr/>
          </a:p>
        </p:txBody>
      </p:sp>
      <p:sp>
        <p:nvSpPr>
          <p:cNvPr id="237" name="Google Shape;237;p19"/>
          <p:cNvSpPr txBox="1"/>
          <p:nvPr/>
        </p:nvSpPr>
        <p:spPr>
          <a:xfrm>
            <a:off x="6334125" y="3086100"/>
            <a:ext cx="5095875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Fraudulent providers have significantly higher average reimbursement claims.</a:t>
            </a:r>
            <a:endParaRPr/>
          </a:p>
        </p:txBody>
      </p:sp>
      <p:pic>
        <p:nvPicPr>
          <p:cNvPr descr="image.png" id="238" name="Google Shape;238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67500" y="4095750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9"/>
          <p:cNvSpPr txBox="1"/>
          <p:nvPr/>
        </p:nvSpPr>
        <p:spPr>
          <a:xfrm>
            <a:off x="6943725" y="4076700"/>
            <a:ext cx="8763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Observation: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4" name="Google Shape;24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5" name="Google Shape;24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971675"/>
            <a:ext cx="3365450" cy="2190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6" name="Google Shape;246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13200" y="1971675"/>
            <a:ext cx="3365450" cy="2190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7" name="Google Shape;247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4400" y="1971675"/>
            <a:ext cx="3365599" cy="219075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0"/>
          <p:cNvSpPr txBox="1"/>
          <p:nvPr/>
        </p:nvSpPr>
        <p:spPr>
          <a:xfrm>
            <a:off x="762000" y="1428750"/>
            <a:ext cx="106680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Do fraudulent providers target sicker patients?</a:t>
            </a:r>
            <a:endParaRPr/>
          </a:p>
        </p:txBody>
      </p:sp>
      <p:sp>
        <p:nvSpPr>
          <p:cNvPr id="249" name="Google Shape;249;p20"/>
          <p:cNvSpPr txBox="1"/>
          <p:nvPr/>
        </p:nvSpPr>
        <p:spPr>
          <a:xfrm>
            <a:off x="762000" y="519112"/>
            <a:ext cx="5370671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EDA: PATIENT HEALTH PROFILE</a:t>
            </a:r>
            <a:endParaRPr/>
          </a:p>
        </p:txBody>
      </p:sp>
      <p:sp>
        <p:nvSpPr>
          <p:cNvPr id="250" name="Google Shape;250;p20"/>
          <p:cNvSpPr txBox="1"/>
          <p:nvPr/>
        </p:nvSpPr>
        <p:spPr>
          <a:xfrm>
            <a:off x="10772775" y="476250"/>
            <a:ext cx="6572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/07</a:t>
            </a:r>
            <a:endParaRPr/>
          </a:p>
        </p:txBody>
      </p:sp>
      <p:sp>
        <p:nvSpPr>
          <p:cNvPr id="251" name="Google Shape;251;p20"/>
          <p:cNvSpPr txBox="1"/>
          <p:nvPr/>
        </p:nvSpPr>
        <p:spPr>
          <a:xfrm>
            <a:off x="977901" y="2476500"/>
            <a:ext cx="2933647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RENAL DISEASE</a:t>
            </a:r>
            <a:endParaRPr/>
          </a:p>
        </p:txBody>
      </p:sp>
      <p:sp>
        <p:nvSpPr>
          <p:cNvPr id="252" name="Google Shape;252;p20"/>
          <p:cNvSpPr txBox="1"/>
          <p:nvPr/>
        </p:nvSpPr>
        <p:spPr>
          <a:xfrm>
            <a:off x="1047750" y="2657475"/>
            <a:ext cx="2793950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Highest correlation with high-cost claims. Often targeted for expensive dialysis billing.</a:t>
            </a:r>
            <a:endParaRPr/>
          </a:p>
        </p:txBody>
      </p:sp>
      <p:pic>
        <p:nvPicPr>
          <p:cNvPr descr="image.png" id="253" name="Google Shape;253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57726" y="2257425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0"/>
          <p:cNvSpPr txBox="1"/>
          <p:nvPr/>
        </p:nvSpPr>
        <p:spPr>
          <a:xfrm>
            <a:off x="4629101" y="2924175"/>
            <a:ext cx="2933647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HEART FAILURE</a:t>
            </a:r>
            <a:endParaRPr/>
          </a:p>
        </p:txBody>
      </p:sp>
      <p:sp>
        <p:nvSpPr>
          <p:cNvPr id="255" name="Google Shape;255;p20"/>
          <p:cNvSpPr txBox="1"/>
          <p:nvPr/>
        </p:nvSpPr>
        <p:spPr>
          <a:xfrm>
            <a:off x="4698950" y="3105150"/>
            <a:ext cx="2793950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Common co-morbidity in fraudulent inpatient admissions to justify longer stays.</a:t>
            </a:r>
            <a:endParaRPr/>
          </a:p>
        </p:txBody>
      </p:sp>
      <p:pic>
        <p:nvPicPr>
          <p:cNvPr descr="image.png" id="256" name="Google Shape;256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09075" y="2257425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0"/>
          <p:cNvSpPr txBox="1"/>
          <p:nvPr/>
        </p:nvSpPr>
        <p:spPr>
          <a:xfrm>
            <a:off x="8280298" y="2924175"/>
            <a:ext cx="2933804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ALZHEIMER'S</a:t>
            </a:r>
            <a:endParaRPr/>
          </a:p>
        </p:txBody>
      </p:sp>
      <p:sp>
        <p:nvSpPr>
          <p:cNvPr id="258" name="Google Shape;258;p20"/>
          <p:cNvSpPr txBox="1"/>
          <p:nvPr/>
        </p:nvSpPr>
        <p:spPr>
          <a:xfrm>
            <a:off x="8350150" y="3105150"/>
            <a:ext cx="2794099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Moderate correlation. Vulnerable population often targeted for phantom billing.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3" name="Google Shape;26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4" name="Google Shape;26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1428750"/>
            <a:ext cx="5095875" cy="495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1"/>
          <p:cNvSpPr txBox="1"/>
          <p:nvPr/>
        </p:nvSpPr>
        <p:spPr>
          <a:xfrm>
            <a:off x="762000" y="519112"/>
            <a:ext cx="8681085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FEATURE ENGINEERING: AGGREGATION STRATEGY</a:t>
            </a:r>
            <a:endParaRPr/>
          </a:p>
        </p:txBody>
      </p:sp>
      <p:sp>
        <p:nvSpPr>
          <p:cNvPr id="266" name="Google Shape;266;p21"/>
          <p:cNvSpPr txBox="1"/>
          <p:nvPr/>
        </p:nvSpPr>
        <p:spPr>
          <a:xfrm>
            <a:off x="10772775" y="476250"/>
            <a:ext cx="6572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/08</a:t>
            </a:r>
            <a:endParaRPr/>
          </a:p>
        </p:txBody>
      </p:sp>
      <p:sp>
        <p:nvSpPr>
          <p:cNvPr id="267" name="Google Shape;267;p21"/>
          <p:cNvSpPr txBox="1"/>
          <p:nvPr/>
        </p:nvSpPr>
        <p:spPr>
          <a:xfrm>
            <a:off x="762000" y="2338387"/>
            <a:ext cx="5350668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TRANSACTIONS TO BEHAVIOR</a:t>
            </a:r>
            <a:endParaRPr/>
          </a:p>
        </p:txBody>
      </p:sp>
      <p:sp>
        <p:nvSpPr>
          <p:cNvPr id="268" name="Google Shape;268;p21"/>
          <p:cNvSpPr txBox="1"/>
          <p:nvPr/>
        </p:nvSpPr>
        <p:spPr>
          <a:xfrm>
            <a:off x="762000" y="2519362"/>
            <a:ext cx="5095875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Since we predict fraud at the 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Provider Level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, we flattened 550k+ claims using aggregation functions.</a:t>
            </a:r>
            <a:endParaRPr/>
          </a:p>
        </p:txBody>
      </p:sp>
      <p:graphicFrame>
        <p:nvGraphicFramePr>
          <p:cNvPr id="269" name="Google Shape;269;p21"/>
          <p:cNvGraphicFramePr/>
          <p:nvPr/>
        </p:nvGraphicFramePr>
        <p:xfrm>
          <a:off x="762000" y="322421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{009C514A-5536-4AEA-9154-31F9F0F49BC7}</a:tableStyleId>
              </a:tblPr>
              <a:tblGrid>
                <a:gridCol w="2028825"/>
                <a:gridCol w="1362075"/>
                <a:gridCol w="1704975"/>
              </a:tblGrid>
              <a:tr h="561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Raw Feature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Aggregation Function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New Feature Name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InscClaimAmtReimbursed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Mean, Sum, Max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Avg_Reimbursement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ClaimDuration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Mean, Max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Max_LengthOfStay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1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DiagnosisCode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Count Unique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Diagnosis_Diversity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pic>
        <p:nvPicPr>
          <p:cNvPr descr="image.png" id="270" name="Google Shape;270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53437" y="3300412"/>
            <a:ext cx="85725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1"/>
          <p:cNvSpPr txBox="1"/>
          <p:nvPr/>
        </p:nvSpPr>
        <p:spPr>
          <a:xfrm>
            <a:off x="7786687" y="4252912"/>
            <a:ext cx="21907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Many-to-One Transformation</a:t>
            </a:r>
            <a:endParaRPr/>
          </a:p>
        </p:txBody>
      </p:sp>
      <p:sp>
        <p:nvSpPr>
          <p:cNvPr id="272" name="Google Shape;272;p21"/>
          <p:cNvSpPr/>
          <p:nvPr/>
        </p:nvSpPr>
        <p:spPr>
          <a:xfrm>
            <a:off x="762000" y="4419600"/>
            <a:ext cx="2028825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1"/>
          <p:cNvSpPr/>
          <p:nvPr/>
        </p:nvSpPr>
        <p:spPr>
          <a:xfrm>
            <a:off x="2790825" y="4419600"/>
            <a:ext cx="1362075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1"/>
          <p:cNvSpPr/>
          <p:nvPr/>
        </p:nvSpPr>
        <p:spPr>
          <a:xfrm>
            <a:off x="4152900" y="4419600"/>
            <a:ext cx="1704975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1"/>
          <p:cNvSpPr/>
          <p:nvPr/>
        </p:nvSpPr>
        <p:spPr>
          <a:xfrm>
            <a:off x="762000" y="4943475"/>
            <a:ext cx="2028825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1"/>
          <p:cNvSpPr/>
          <p:nvPr/>
        </p:nvSpPr>
        <p:spPr>
          <a:xfrm>
            <a:off x="2790825" y="4943475"/>
            <a:ext cx="1362075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1"/>
          <p:cNvSpPr/>
          <p:nvPr/>
        </p:nvSpPr>
        <p:spPr>
          <a:xfrm>
            <a:off x="4152900" y="4943475"/>
            <a:ext cx="1704975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2" name="Google Shape;28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3" name="Google Shape;28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3271837"/>
            <a:ext cx="5095875" cy="1524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4" name="Google Shape;284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3052762"/>
            <a:ext cx="5095875" cy="196215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2"/>
          <p:cNvSpPr txBox="1"/>
          <p:nvPr/>
        </p:nvSpPr>
        <p:spPr>
          <a:xfrm>
            <a:off x="762000" y="1428750"/>
            <a:ext cx="106680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Handling the "Curse of Dimensionality" in Diagnosis Codes.</a:t>
            </a:r>
            <a:endParaRPr/>
          </a:p>
        </p:txBody>
      </p:sp>
      <p:sp>
        <p:nvSpPr>
          <p:cNvPr id="286" name="Google Shape;286;p22"/>
          <p:cNvSpPr txBox="1"/>
          <p:nvPr/>
        </p:nvSpPr>
        <p:spPr>
          <a:xfrm>
            <a:off x="762000" y="519112"/>
            <a:ext cx="4680585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CLINICAL GROUPING LOGIC</a:t>
            </a:r>
            <a:endParaRPr/>
          </a:p>
        </p:txBody>
      </p:sp>
      <p:sp>
        <p:nvSpPr>
          <p:cNvPr id="287" name="Google Shape;287;p22"/>
          <p:cNvSpPr txBox="1"/>
          <p:nvPr/>
        </p:nvSpPr>
        <p:spPr>
          <a:xfrm>
            <a:off x="10772775" y="476250"/>
            <a:ext cx="6572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/09</a:t>
            </a:r>
            <a:endParaRPr/>
          </a:p>
        </p:txBody>
      </p:sp>
      <p:sp>
        <p:nvSpPr>
          <p:cNvPr id="288" name="Google Shape;288;p22"/>
          <p:cNvSpPr txBox="1"/>
          <p:nvPr/>
        </p:nvSpPr>
        <p:spPr>
          <a:xfrm>
            <a:off x="1047750" y="3557587"/>
            <a:ext cx="4750593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PROBLEM</a:t>
            </a:r>
            <a:endParaRPr/>
          </a:p>
        </p:txBody>
      </p:sp>
      <p:sp>
        <p:nvSpPr>
          <p:cNvPr id="289" name="Google Shape;289;p22"/>
          <p:cNvSpPr txBox="1"/>
          <p:nvPr/>
        </p:nvSpPr>
        <p:spPr>
          <a:xfrm>
            <a:off x="1047750" y="3738562"/>
            <a:ext cx="45243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14,000+ unique ICD-9 Codes.</a:t>
            </a:r>
            <a:endParaRPr/>
          </a:p>
        </p:txBody>
      </p:sp>
      <p:sp>
        <p:nvSpPr>
          <p:cNvPr id="290" name="Google Shape;290;p22"/>
          <p:cNvSpPr txBox="1"/>
          <p:nvPr/>
        </p:nvSpPr>
        <p:spPr>
          <a:xfrm>
            <a:off x="1047750" y="3995737"/>
            <a:ext cx="4524375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One-Hot Encoding would create a sparse, massive matrix that overfits easily.</a:t>
            </a:r>
            <a:endParaRPr/>
          </a:p>
        </p:txBody>
      </p:sp>
      <p:sp>
        <p:nvSpPr>
          <p:cNvPr id="291" name="Google Shape;291;p22"/>
          <p:cNvSpPr txBox="1"/>
          <p:nvPr/>
        </p:nvSpPr>
        <p:spPr>
          <a:xfrm>
            <a:off x="6638925" y="3357562"/>
            <a:ext cx="4710588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7AE6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SOLUTION: CCS GROUPING</a:t>
            </a:r>
            <a:endParaRPr/>
          </a:p>
        </p:txBody>
      </p:sp>
      <p:sp>
        <p:nvSpPr>
          <p:cNvPr id="292" name="Google Shape;292;p22"/>
          <p:cNvSpPr txBox="1"/>
          <p:nvPr/>
        </p:nvSpPr>
        <p:spPr>
          <a:xfrm>
            <a:off x="6638925" y="3538537"/>
            <a:ext cx="44862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Mapped codes to 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17 Clinical Domains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.</a:t>
            </a:r>
            <a:endParaRPr/>
          </a:p>
        </p:txBody>
      </p:sp>
      <p:sp>
        <p:nvSpPr>
          <p:cNvPr id="293" name="Google Shape;293;p22"/>
          <p:cNvSpPr txBox="1"/>
          <p:nvPr/>
        </p:nvSpPr>
        <p:spPr>
          <a:xfrm>
            <a:off x="6581775" y="3938587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294" name="Google Shape;294;p22"/>
          <p:cNvSpPr txBox="1"/>
          <p:nvPr/>
        </p:nvSpPr>
        <p:spPr>
          <a:xfrm>
            <a:off x="6638925" y="3938587"/>
            <a:ext cx="44862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401.9 (Hypertension) → 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Circulatory</a:t>
            </a:r>
            <a:endParaRPr/>
          </a:p>
        </p:txBody>
      </p:sp>
      <p:sp>
        <p:nvSpPr>
          <p:cNvPr id="295" name="Google Shape;295;p22"/>
          <p:cNvSpPr txBox="1"/>
          <p:nvPr/>
        </p:nvSpPr>
        <p:spPr>
          <a:xfrm>
            <a:off x="6581775" y="4195762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296" name="Google Shape;296;p22"/>
          <p:cNvSpPr txBox="1"/>
          <p:nvPr/>
        </p:nvSpPr>
        <p:spPr>
          <a:xfrm>
            <a:off x="6638925" y="4195762"/>
            <a:ext cx="44862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250.0 (Diabetes) → 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Metabolic</a:t>
            </a:r>
            <a:endParaRPr/>
          </a:p>
        </p:txBody>
      </p:sp>
      <p:sp>
        <p:nvSpPr>
          <p:cNvPr id="297" name="Google Shape;297;p22"/>
          <p:cNvSpPr txBox="1"/>
          <p:nvPr/>
        </p:nvSpPr>
        <p:spPr>
          <a:xfrm>
            <a:off x="6581775" y="4452937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298" name="Google Shape;298;p22"/>
          <p:cNvSpPr txBox="1"/>
          <p:nvPr/>
        </p:nvSpPr>
        <p:spPr>
          <a:xfrm>
            <a:off x="6638925" y="4452937"/>
            <a:ext cx="44862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800.0 (Fracture) → 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Trauma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3" name="Google Shape;30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4" name="Google Shape;304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876425"/>
            <a:ext cx="3365450" cy="2019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5" name="Google Shape;305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13200" y="1876425"/>
            <a:ext cx="3365450" cy="2019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6" name="Google Shape;306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4400" y="1876425"/>
            <a:ext cx="3365599" cy="20193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3"/>
          <p:cNvSpPr txBox="1"/>
          <p:nvPr/>
        </p:nvSpPr>
        <p:spPr>
          <a:xfrm>
            <a:off x="762000" y="1428750"/>
            <a:ext cx="106680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We engineered 100 features. Here are the top performers:</a:t>
            </a:r>
            <a:endParaRPr/>
          </a:p>
        </p:txBody>
      </p:sp>
      <p:sp>
        <p:nvSpPr>
          <p:cNvPr id="308" name="Google Shape;308;p23"/>
          <p:cNvSpPr txBox="1"/>
          <p:nvPr/>
        </p:nvSpPr>
        <p:spPr>
          <a:xfrm>
            <a:off x="762000" y="519112"/>
            <a:ext cx="4100512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BEHAVIORAL FEATURES</a:t>
            </a:r>
            <a:endParaRPr/>
          </a:p>
        </p:txBody>
      </p:sp>
      <p:sp>
        <p:nvSpPr>
          <p:cNvPr id="309" name="Google Shape;309;p23"/>
          <p:cNvSpPr txBox="1"/>
          <p:nvPr/>
        </p:nvSpPr>
        <p:spPr>
          <a:xfrm>
            <a:off x="10772775" y="476250"/>
            <a:ext cx="6572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/10</a:t>
            </a:r>
            <a:endParaRPr/>
          </a:p>
        </p:txBody>
      </p:sp>
      <p:sp>
        <p:nvSpPr>
          <p:cNvPr id="310" name="Google Shape;310;p23"/>
          <p:cNvSpPr txBox="1"/>
          <p:nvPr/>
        </p:nvSpPr>
        <p:spPr>
          <a:xfrm>
            <a:off x="1047750" y="2219325"/>
            <a:ext cx="2933647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1. CLAIMDURATION_MAX</a:t>
            </a:r>
            <a:endParaRPr/>
          </a:p>
        </p:txBody>
      </p:sp>
      <p:sp>
        <p:nvSpPr>
          <p:cNvPr id="311" name="Google Shape;311;p23"/>
          <p:cNvSpPr txBox="1"/>
          <p:nvPr/>
        </p:nvSpPr>
        <p:spPr>
          <a:xfrm>
            <a:off x="1047750" y="2581275"/>
            <a:ext cx="279395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The maximum length of stay recorded by a provider. Fraudsters often inflate this to the max allowed limit.</a:t>
            </a:r>
            <a:endParaRPr/>
          </a:p>
        </p:txBody>
      </p:sp>
      <p:sp>
        <p:nvSpPr>
          <p:cNvPr id="312" name="Google Shape;312;p23"/>
          <p:cNvSpPr txBox="1"/>
          <p:nvPr/>
        </p:nvSpPr>
        <p:spPr>
          <a:xfrm>
            <a:off x="4698950" y="2219325"/>
            <a:ext cx="2933647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2. DIAGNOSISGROUP_COUNT</a:t>
            </a:r>
            <a:endParaRPr/>
          </a:p>
        </p:txBody>
      </p:sp>
      <p:sp>
        <p:nvSpPr>
          <p:cNvPr id="313" name="Google Shape;313;p23"/>
          <p:cNvSpPr txBox="1"/>
          <p:nvPr/>
        </p:nvSpPr>
        <p:spPr>
          <a:xfrm>
            <a:off x="4698950" y="2581275"/>
            <a:ext cx="279395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The variety of diagnosis codes used. High variance suggests "kitchen sinking" (adding codes to justify cost).</a:t>
            </a:r>
            <a:endParaRPr/>
          </a:p>
        </p:txBody>
      </p:sp>
      <p:sp>
        <p:nvSpPr>
          <p:cNvPr id="314" name="Google Shape;314;p23"/>
          <p:cNvSpPr txBox="1"/>
          <p:nvPr/>
        </p:nvSpPr>
        <p:spPr>
          <a:xfrm>
            <a:off x="8350150" y="2219325"/>
            <a:ext cx="2933804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3. INPATIENT_STDDEV</a:t>
            </a:r>
            <a:endParaRPr/>
          </a:p>
        </p:txBody>
      </p:sp>
      <p:sp>
        <p:nvSpPr>
          <p:cNvPr id="315" name="Google Shape;315;p23"/>
          <p:cNvSpPr txBox="1"/>
          <p:nvPr/>
        </p:nvSpPr>
        <p:spPr>
          <a:xfrm>
            <a:off x="8350150" y="2581275"/>
            <a:ext cx="2794099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Variability in inpatient claim costs. Fraudsters often have rigid billing patterns (low variance) compared to real life.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0" name="Google Shape;32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952500"/>
            <a:ext cx="10668000" cy="4953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1" name="Google Shape;32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24"/>
          <p:cNvSpPr txBox="1"/>
          <p:nvPr/>
        </p:nvSpPr>
        <p:spPr>
          <a:xfrm>
            <a:off x="762000" y="519112"/>
            <a:ext cx="3510438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9:1 IMBALANCE</a:t>
            </a:r>
            <a:endParaRPr/>
          </a:p>
        </p:txBody>
      </p:sp>
      <p:sp>
        <p:nvSpPr>
          <p:cNvPr id="323" name="Google Shape;323;p24"/>
          <p:cNvSpPr txBox="1"/>
          <p:nvPr/>
        </p:nvSpPr>
        <p:spPr>
          <a:xfrm>
            <a:off x="10772775" y="476250"/>
            <a:ext cx="6572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/11</a:t>
            </a:r>
            <a:endParaRPr/>
          </a:p>
        </p:txBody>
      </p:sp>
      <p:sp>
        <p:nvSpPr>
          <p:cNvPr id="324" name="Google Shape;324;p24"/>
          <p:cNvSpPr txBox="1"/>
          <p:nvPr/>
        </p:nvSpPr>
        <p:spPr>
          <a:xfrm>
            <a:off x="6334125" y="3028950"/>
            <a:ext cx="5350668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WHY THIS MATTERS</a:t>
            </a:r>
            <a:endParaRPr/>
          </a:p>
        </p:txBody>
      </p:sp>
      <p:sp>
        <p:nvSpPr>
          <p:cNvPr id="325" name="Google Shape;325;p24"/>
          <p:cNvSpPr txBox="1"/>
          <p:nvPr/>
        </p:nvSpPr>
        <p:spPr>
          <a:xfrm>
            <a:off x="6334125" y="3209925"/>
            <a:ext cx="5095875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Standard algorithms (like Logistic Regression) optimize for Accuracy.</a:t>
            </a:r>
            <a:endParaRPr/>
          </a:p>
        </p:txBody>
      </p:sp>
      <p:sp>
        <p:nvSpPr>
          <p:cNvPr id="326" name="Google Shape;326;p24"/>
          <p:cNvSpPr txBox="1"/>
          <p:nvPr/>
        </p:nvSpPr>
        <p:spPr>
          <a:xfrm>
            <a:off x="6334125" y="3867150"/>
            <a:ext cx="5095875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In this dataset, a "dumb" model predicting 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No Fraud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for everyone achieves 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90.6% Accuracy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.</a:t>
            </a:r>
            <a:endParaRPr/>
          </a:p>
        </p:txBody>
      </p:sp>
      <p:sp>
        <p:nvSpPr>
          <p:cNvPr id="327" name="Google Shape;327;p24"/>
          <p:cNvSpPr txBox="1"/>
          <p:nvPr/>
        </p:nvSpPr>
        <p:spPr>
          <a:xfrm>
            <a:off x="6334125" y="4524375"/>
            <a:ext cx="50958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0392B"/>
                </a:solidFill>
                <a:latin typeface="Barlow"/>
                <a:ea typeface="Barlow"/>
                <a:cs typeface="Barlow"/>
                <a:sym typeface="Barlow"/>
              </a:rPr>
              <a:t>Result: 0% Fraud Detection.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2" name="Google Shape;33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952500"/>
            <a:ext cx="10668000" cy="4953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3" name="Google Shape;333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25"/>
          <p:cNvSpPr txBox="1"/>
          <p:nvPr/>
        </p:nvSpPr>
        <p:spPr>
          <a:xfrm>
            <a:off x="762000" y="519112"/>
            <a:ext cx="35103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9:1 IMBALANCE</a:t>
            </a:r>
            <a:endParaRPr/>
          </a:p>
        </p:txBody>
      </p:sp>
      <p:sp>
        <p:nvSpPr>
          <p:cNvPr id="335" name="Google Shape;335;p25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/1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2</a:t>
            </a:r>
            <a:endParaRPr/>
          </a:p>
        </p:txBody>
      </p:sp>
      <p:sp>
        <p:nvSpPr>
          <p:cNvPr id="336" name="Google Shape;336;p25"/>
          <p:cNvSpPr txBox="1"/>
          <p:nvPr/>
        </p:nvSpPr>
        <p:spPr>
          <a:xfrm>
            <a:off x="6334125" y="3028950"/>
            <a:ext cx="535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WHY THIS MATTERS</a:t>
            </a:r>
            <a:endParaRPr/>
          </a:p>
        </p:txBody>
      </p:sp>
      <p:sp>
        <p:nvSpPr>
          <p:cNvPr id="337" name="Google Shape;337;p25"/>
          <p:cNvSpPr txBox="1"/>
          <p:nvPr/>
        </p:nvSpPr>
        <p:spPr>
          <a:xfrm>
            <a:off x="6334125" y="3209925"/>
            <a:ext cx="5095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Standard algorithms (like Logistic Regression) optimize for Accuracy.</a:t>
            </a:r>
            <a:endParaRPr/>
          </a:p>
        </p:txBody>
      </p:sp>
      <p:sp>
        <p:nvSpPr>
          <p:cNvPr id="338" name="Google Shape;338;p25"/>
          <p:cNvSpPr txBox="1"/>
          <p:nvPr/>
        </p:nvSpPr>
        <p:spPr>
          <a:xfrm>
            <a:off x="6334125" y="3867150"/>
            <a:ext cx="50958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In this dataset, a "dumb" model predicting 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No Fraud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for everyone achieves 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90.6% Accuracy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.</a:t>
            </a:r>
            <a:endParaRPr/>
          </a:p>
        </p:txBody>
      </p:sp>
      <p:sp>
        <p:nvSpPr>
          <p:cNvPr id="339" name="Google Shape;339;p25"/>
          <p:cNvSpPr txBox="1"/>
          <p:nvPr/>
        </p:nvSpPr>
        <p:spPr>
          <a:xfrm>
            <a:off x="6334125" y="4524375"/>
            <a:ext cx="5095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0392B"/>
                </a:solidFill>
                <a:latin typeface="Barlow"/>
                <a:ea typeface="Barlow"/>
                <a:cs typeface="Barlow"/>
                <a:sym typeface="Barlow"/>
              </a:rPr>
              <a:t>Result: 0% Fraud Detection.</a:t>
            </a:r>
            <a:endParaRPr/>
          </a:p>
        </p:txBody>
      </p:sp>
      <p:pic>
        <p:nvPicPr>
          <p:cNvPr id="340" name="Google Shape;340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0500" y="1556537"/>
            <a:ext cx="11811000" cy="43678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5" name="Google Shape;34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6" name="Google Shape;346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971675"/>
            <a:ext cx="5191125" cy="923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7" name="Google Shape;347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1971675"/>
            <a:ext cx="5191125" cy="923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8" name="Google Shape;348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3371850"/>
            <a:ext cx="5191125" cy="923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9" name="Google Shape;349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3371850"/>
            <a:ext cx="5191125" cy="923925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26"/>
          <p:cNvSpPr txBox="1"/>
          <p:nvPr/>
        </p:nvSpPr>
        <p:spPr>
          <a:xfrm>
            <a:off x="762000" y="1428750"/>
            <a:ext cx="106680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We tested 8 different resampling strategies in our pipeline.</a:t>
            </a:r>
            <a:endParaRPr/>
          </a:p>
        </p:txBody>
      </p:sp>
      <p:sp>
        <p:nvSpPr>
          <p:cNvPr id="351" name="Google Shape;351;p26"/>
          <p:cNvSpPr txBox="1"/>
          <p:nvPr/>
        </p:nvSpPr>
        <p:spPr>
          <a:xfrm>
            <a:off x="762000" y="519112"/>
            <a:ext cx="368046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SOLVING IMBALANCE</a:t>
            </a:r>
            <a:endParaRPr/>
          </a:p>
        </p:txBody>
      </p:sp>
      <p:sp>
        <p:nvSpPr>
          <p:cNvPr id="352" name="Google Shape;352;p26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/1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3</a:t>
            </a:r>
            <a:endParaRPr/>
          </a:p>
        </p:txBody>
      </p:sp>
      <p:sp>
        <p:nvSpPr>
          <p:cNvPr id="353" name="Google Shape;353;p26"/>
          <p:cNvSpPr txBox="1"/>
          <p:nvPr/>
        </p:nvSpPr>
        <p:spPr>
          <a:xfrm>
            <a:off x="1028700" y="2228850"/>
            <a:ext cx="47625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E3875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354" name="Google Shape;354;p26"/>
          <p:cNvSpPr txBox="1"/>
          <p:nvPr/>
        </p:nvSpPr>
        <p:spPr>
          <a:xfrm>
            <a:off x="1695450" y="2162175"/>
            <a:ext cx="4067175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SMOTE (Oversampling)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Generates synthetic fraud examples by interpolating between existing ones. Good for keeping data volume high.</a:t>
            </a:r>
            <a:endParaRPr/>
          </a:p>
        </p:txBody>
      </p:sp>
      <p:sp>
        <p:nvSpPr>
          <p:cNvPr id="355" name="Google Shape;355;p26"/>
          <p:cNvSpPr txBox="1"/>
          <p:nvPr/>
        </p:nvSpPr>
        <p:spPr>
          <a:xfrm>
            <a:off x="6505575" y="2228850"/>
            <a:ext cx="47625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E3875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356" name="Google Shape;356;p26"/>
          <p:cNvSpPr txBox="1"/>
          <p:nvPr/>
        </p:nvSpPr>
        <p:spPr>
          <a:xfrm>
            <a:off x="7172325" y="2162175"/>
            <a:ext cx="4067175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RandomUnderSampler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Deletes non-fraud examples. Fast, but loses information. Worked best for SVM.</a:t>
            </a:r>
            <a:endParaRPr/>
          </a:p>
        </p:txBody>
      </p:sp>
      <p:sp>
        <p:nvSpPr>
          <p:cNvPr id="357" name="Google Shape;357;p26"/>
          <p:cNvSpPr txBox="1"/>
          <p:nvPr/>
        </p:nvSpPr>
        <p:spPr>
          <a:xfrm>
            <a:off x="1028700" y="3629025"/>
            <a:ext cx="47625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E3875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358" name="Google Shape;358;p26"/>
          <p:cNvSpPr txBox="1"/>
          <p:nvPr/>
        </p:nvSpPr>
        <p:spPr>
          <a:xfrm>
            <a:off x="1695450" y="3562350"/>
            <a:ext cx="4067175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Class Weights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Mathematical penalization. Telling the model "One fraud error costs as much as 10 non-fraud errors."</a:t>
            </a:r>
            <a:endParaRPr/>
          </a:p>
        </p:txBody>
      </p:sp>
      <p:sp>
        <p:nvSpPr>
          <p:cNvPr id="359" name="Google Shape;359;p26"/>
          <p:cNvSpPr txBox="1"/>
          <p:nvPr/>
        </p:nvSpPr>
        <p:spPr>
          <a:xfrm>
            <a:off x="6505575" y="3629025"/>
            <a:ext cx="47625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E3875"/>
                </a:solidFill>
                <a:latin typeface="Barlow"/>
                <a:ea typeface="Barlow"/>
                <a:cs typeface="Barlow"/>
                <a:sym typeface="Barlow"/>
              </a:rPr>
              <a:t>4</a:t>
            </a:r>
            <a:endParaRPr/>
          </a:p>
        </p:txBody>
      </p:sp>
      <p:sp>
        <p:nvSpPr>
          <p:cNvPr id="360" name="Google Shape;360;p26"/>
          <p:cNvSpPr txBox="1"/>
          <p:nvPr/>
        </p:nvSpPr>
        <p:spPr>
          <a:xfrm>
            <a:off x="7172325" y="3562350"/>
            <a:ext cx="4067175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SMOTE + Tomek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Hybrid approach. Oversamples fraud, then cleans up noisy boundary points.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5" name="Google Shape;36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6" name="Google Shape;366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905000"/>
            <a:ext cx="2133600" cy="781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7" name="Google Shape;367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79225" y="1908675"/>
            <a:ext cx="2133600" cy="781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8" name="Google Shape;368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505201" y="1908675"/>
            <a:ext cx="2133600" cy="781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9" name="Google Shape;369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296102" y="1924050"/>
            <a:ext cx="2133600" cy="74295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7"/>
          <p:cNvSpPr txBox="1"/>
          <p:nvPr/>
        </p:nvSpPr>
        <p:spPr>
          <a:xfrm>
            <a:off x="762000" y="3067050"/>
            <a:ext cx="106680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Crucial Detail: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Resampling was applied </a:t>
            </a:r>
            <a:r>
              <a:rPr b="0" i="1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inside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the Cross-Validation loop to prevent data leakage.</a:t>
            </a:r>
            <a:endParaRPr/>
          </a:p>
        </p:txBody>
      </p:sp>
      <p:sp>
        <p:nvSpPr>
          <p:cNvPr id="371" name="Google Shape;371;p27"/>
          <p:cNvSpPr txBox="1"/>
          <p:nvPr/>
        </p:nvSpPr>
        <p:spPr>
          <a:xfrm>
            <a:off x="762000" y="519112"/>
            <a:ext cx="4340542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PIPELINE ARCHITECTURE</a:t>
            </a:r>
            <a:endParaRPr/>
          </a:p>
        </p:txBody>
      </p:sp>
      <p:sp>
        <p:nvSpPr>
          <p:cNvPr id="372" name="Google Shape;372;p27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/1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4</a:t>
            </a:r>
            <a:endParaRPr/>
          </a:p>
        </p:txBody>
      </p:sp>
      <p:pic>
        <p:nvPicPr>
          <p:cNvPr descr="image.png" id="373" name="Google Shape;3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184475" y="2219325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4" name="Google Shape;37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982834" y="2185525"/>
            <a:ext cx="213141" cy="227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5" name="Google Shape;375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873876" y="2219325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27"/>
          <p:cNvSpPr txBox="1"/>
          <p:nvPr/>
        </p:nvSpPr>
        <p:spPr>
          <a:xfrm>
            <a:off x="1292825" y="2114550"/>
            <a:ext cx="1152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Input Data</a:t>
            </a:r>
            <a:endParaRPr/>
          </a:p>
        </p:txBody>
      </p:sp>
      <p:sp>
        <p:nvSpPr>
          <p:cNvPr id="377" name="Google Shape;377;p27"/>
          <p:cNvSpPr txBox="1"/>
          <p:nvPr/>
        </p:nvSpPr>
        <p:spPr>
          <a:xfrm>
            <a:off x="7245938" y="2034525"/>
            <a:ext cx="1000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Preprocessing</a:t>
            </a:r>
            <a:endParaRPr/>
          </a:p>
        </p:txBody>
      </p:sp>
      <p:sp>
        <p:nvSpPr>
          <p:cNvPr id="378" name="Google Shape;378;p27"/>
          <p:cNvSpPr txBox="1"/>
          <p:nvPr/>
        </p:nvSpPr>
        <p:spPr>
          <a:xfrm>
            <a:off x="4056575" y="2114550"/>
            <a:ext cx="907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Resampler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83" name="Google Shape;383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84" name="Google Shape;384;p28"/>
          <p:cNvGraphicFramePr/>
          <p:nvPr/>
        </p:nvGraphicFramePr>
        <p:xfrm>
          <a:off x="761988" y="18357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{009C514A-5536-4AEA-9154-31F9F0F49BC7}</a:tableStyleId>
              </a:tblPr>
              <a:tblGrid>
                <a:gridCol w="2452400"/>
                <a:gridCol w="3703150"/>
                <a:gridCol w="4512475"/>
              </a:tblGrid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Algorithm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Pros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Cons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Logistic Regression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Interpretability, Speed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Fails to capture non-linear fraud patterns.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Support Vector Machine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High Recall (Catch rate)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Computationally expensive, Low Precision.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Random Forest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Robust to outliers, Parallelizable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Struggled with Recall on the minority class here.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Gradient Boosting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Best performance</a:t>
                      </a: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,</a:t>
                      </a: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 Iterativ</a:t>
                      </a: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e correction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Slower training time, Requires tuning.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AdaBoosting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Focuses on hard-to-classify-cases</a:t>
                      </a:r>
                      <a:endParaRPr sz="1200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Sensitive to outliers and noisy data</a:t>
                      </a:r>
                      <a:endParaRPr sz="1200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Decision Trees</a:t>
                      </a:r>
                      <a:endParaRPr b="1" i="0" sz="1200" u="none" cap="none" strike="noStrike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Easy to </a:t>
                      </a: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interpret, Fast</a:t>
                      </a:r>
                      <a:endParaRPr b="1" i="0" sz="1200" u="none" cap="none" strike="noStrike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Prone to overfitting, Unstable to small data changes</a:t>
                      </a:r>
                      <a:endParaRPr b="0" i="0" sz="1200" u="none" cap="none" strike="noStrike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385" name="Google Shape;385;p28"/>
          <p:cNvSpPr txBox="1"/>
          <p:nvPr/>
        </p:nvSpPr>
        <p:spPr>
          <a:xfrm>
            <a:off x="762000" y="519112"/>
            <a:ext cx="4420552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CANDIDATE ALGORITHMS</a:t>
            </a:r>
            <a:endParaRPr/>
          </a:p>
        </p:txBody>
      </p:sp>
      <p:sp>
        <p:nvSpPr>
          <p:cNvPr id="386" name="Google Shape;386;p28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/1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5</a:t>
            </a:r>
            <a:endParaRPr/>
          </a:p>
        </p:txBody>
      </p:sp>
      <p:sp>
        <p:nvSpPr>
          <p:cNvPr id="387" name="Google Shape;387;p28"/>
          <p:cNvSpPr/>
          <p:nvPr/>
        </p:nvSpPr>
        <p:spPr>
          <a:xfrm>
            <a:off x="761988" y="2831087"/>
            <a:ext cx="24525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8"/>
          <p:cNvSpPr/>
          <p:nvPr/>
        </p:nvSpPr>
        <p:spPr>
          <a:xfrm>
            <a:off x="3214377" y="2831087"/>
            <a:ext cx="37032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8"/>
          <p:cNvSpPr/>
          <p:nvPr/>
        </p:nvSpPr>
        <p:spPr>
          <a:xfrm>
            <a:off x="6917519" y="2831087"/>
            <a:ext cx="45126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8"/>
          <p:cNvSpPr/>
          <p:nvPr/>
        </p:nvSpPr>
        <p:spPr>
          <a:xfrm>
            <a:off x="761988" y="3354962"/>
            <a:ext cx="24525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8"/>
          <p:cNvSpPr/>
          <p:nvPr/>
        </p:nvSpPr>
        <p:spPr>
          <a:xfrm>
            <a:off x="3214377" y="3354962"/>
            <a:ext cx="37032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8"/>
          <p:cNvSpPr/>
          <p:nvPr/>
        </p:nvSpPr>
        <p:spPr>
          <a:xfrm>
            <a:off x="6917519" y="3354962"/>
            <a:ext cx="45126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8"/>
          <p:cNvSpPr/>
          <p:nvPr/>
        </p:nvSpPr>
        <p:spPr>
          <a:xfrm>
            <a:off x="761988" y="3878837"/>
            <a:ext cx="24525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8"/>
          <p:cNvSpPr/>
          <p:nvPr/>
        </p:nvSpPr>
        <p:spPr>
          <a:xfrm>
            <a:off x="3214377" y="3878837"/>
            <a:ext cx="37032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8"/>
          <p:cNvSpPr/>
          <p:nvPr/>
        </p:nvSpPr>
        <p:spPr>
          <a:xfrm>
            <a:off x="6917519" y="3878837"/>
            <a:ext cx="45126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00" name="Google Shape;40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94825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1" name="Google Shape;401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29"/>
          <p:cNvSpPr txBox="1"/>
          <p:nvPr/>
        </p:nvSpPr>
        <p:spPr>
          <a:xfrm>
            <a:off x="762000" y="4963825"/>
            <a:ext cx="10668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Tradeoff: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Gradient Boosting took ~28 minutes to train (vs 11 mins for RF), but delivered significantly better Recall.</a:t>
            </a:r>
            <a:endParaRPr/>
          </a:p>
        </p:txBody>
      </p:sp>
      <p:sp>
        <p:nvSpPr>
          <p:cNvPr id="403" name="Google Shape;403;p29"/>
          <p:cNvSpPr txBox="1"/>
          <p:nvPr/>
        </p:nvSpPr>
        <p:spPr>
          <a:xfrm>
            <a:off x="762000" y="519112"/>
            <a:ext cx="7240905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TRAINING EFFICIENCY VS. PERFORMANCE</a:t>
            </a:r>
            <a:endParaRPr/>
          </a:p>
        </p:txBody>
      </p:sp>
      <p:sp>
        <p:nvSpPr>
          <p:cNvPr id="404" name="Google Shape;404;p29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/1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30"/>
          <p:cNvSpPr txBox="1"/>
          <p:nvPr/>
        </p:nvSpPr>
        <p:spPr>
          <a:xfrm>
            <a:off x="762000" y="1227788"/>
            <a:ext cx="10668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We used GridSearchCV with 5-fold CV to find the optimal settings.</a:t>
            </a:r>
            <a:endParaRPr/>
          </a:p>
        </p:txBody>
      </p:sp>
      <p:sp>
        <p:nvSpPr>
          <p:cNvPr id="410" name="Google Shape;410;p30"/>
          <p:cNvSpPr txBox="1"/>
          <p:nvPr/>
        </p:nvSpPr>
        <p:spPr>
          <a:xfrm>
            <a:off x="762000" y="519112"/>
            <a:ext cx="47307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HYPERPARAMETER TUNING</a:t>
            </a:r>
            <a:endParaRPr/>
          </a:p>
        </p:txBody>
      </p:sp>
      <p:sp>
        <p:nvSpPr>
          <p:cNvPr id="411" name="Google Shape;411;p30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/1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7</a:t>
            </a:r>
            <a:endParaRPr/>
          </a:p>
        </p:txBody>
      </p:sp>
      <p:pic>
        <p:nvPicPr>
          <p:cNvPr descr="image.png" id="412" name="Google Shape;4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9600" y="1789487"/>
            <a:ext cx="5095875" cy="211455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30"/>
          <p:cNvSpPr txBox="1"/>
          <p:nvPr/>
        </p:nvSpPr>
        <p:spPr>
          <a:xfrm>
            <a:off x="1170100" y="1932350"/>
            <a:ext cx="4950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ADA Boosting</a:t>
            </a:r>
            <a:endParaRPr/>
          </a:p>
        </p:txBody>
      </p:sp>
      <p:sp>
        <p:nvSpPr>
          <p:cNvPr id="414" name="Google Shape;414;p30"/>
          <p:cNvSpPr txBox="1"/>
          <p:nvPr/>
        </p:nvSpPr>
        <p:spPr>
          <a:xfrm>
            <a:off x="1170100" y="2208575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n_estimators: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50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, 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00, 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00]</a:t>
            </a:r>
            <a:endParaRPr/>
          </a:p>
        </p:txBody>
      </p:sp>
      <p:sp>
        <p:nvSpPr>
          <p:cNvPr id="415" name="Google Shape;415;p30"/>
          <p:cNvSpPr txBox="1"/>
          <p:nvPr/>
        </p:nvSpPr>
        <p:spPr>
          <a:xfrm>
            <a:off x="1170100" y="2465750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learning_rate: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[0.01, 0.1, 0.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5. 1.0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16" name="Google Shape;416;p30"/>
          <p:cNvSpPr txBox="1"/>
          <p:nvPr/>
        </p:nvSpPr>
        <p:spPr>
          <a:xfrm>
            <a:off x="1170100" y="2722925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algorithm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“SAMME”, “SAMME.R”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17" name="Google Shape;417;p30"/>
          <p:cNvSpPr txBox="1"/>
          <p:nvPr/>
        </p:nvSpPr>
        <p:spPr>
          <a:xfrm>
            <a:off x="1170100" y="2980100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max_depth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1,3,5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18" name="Google Shape;418;p30"/>
          <p:cNvSpPr txBox="1"/>
          <p:nvPr/>
        </p:nvSpPr>
        <p:spPr>
          <a:xfrm>
            <a:off x="1170100" y="3484925"/>
            <a:ext cx="543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Winner:</a:t>
            </a:r>
            <a:endParaRPr/>
          </a:p>
        </p:txBody>
      </p:sp>
      <p:sp>
        <p:nvSpPr>
          <p:cNvPr id="419" name="Google Shape;419;p30"/>
          <p:cNvSpPr txBox="1"/>
          <p:nvPr/>
        </p:nvSpPr>
        <p:spPr>
          <a:xfrm>
            <a:off x="1713088" y="3494437"/>
            <a:ext cx="4714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50, 0.01, SAMME, 1</a:t>
            </a:r>
            <a:endParaRPr/>
          </a:p>
        </p:txBody>
      </p:sp>
      <p:sp>
        <p:nvSpPr>
          <p:cNvPr id="420" name="Google Shape;420;p30"/>
          <p:cNvSpPr txBox="1"/>
          <p:nvPr/>
        </p:nvSpPr>
        <p:spPr>
          <a:xfrm>
            <a:off x="1147475" y="4319162"/>
            <a:ext cx="4950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SVM (NoSampling_ClassWeight) </a:t>
            </a:r>
            <a:endParaRPr/>
          </a:p>
        </p:txBody>
      </p:sp>
      <p:sp>
        <p:nvSpPr>
          <p:cNvPr id="421" name="Google Shape;421;p30"/>
          <p:cNvSpPr txBox="1"/>
          <p:nvPr/>
        </p:nvSpPr>
        <p:spPr>
          <a:xfrm>
            <a:off x="1147475" y="4595387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C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[1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, 10, 100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22" name="Google Shape;422;p30"/>
          <p:cNvSpPr txBox="1"/>
          <p:nvPr/>
        </p:nvSpPr>
        <p:spPr>
          <a:xfrm>
            <a:off x="1147475" y="4852562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kernel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‘rbf’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23" name="Google Shape;423;p30"/>
          <p:cNvSpPr txBox="1"/>
          <p:nvPr/>
        </p:nvSpPr>
        <p:spPr>
          <a:xfrm>
            <a:off x="1147475" y="5109737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Gamma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“scale” ,  0.01, 0.001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24" name="Google Shape;424;p30"/>
          <p:cNvSpPr txBox="1"/>
          <p:nvPr/>
        </p:nvSpPr>
        <p:spPr>
          <a:xfrm>
            <a:off x="1147475" y="5366912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Class Weight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“Balanced”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25" name="Google Shape;425;p30"/>
          <p:cNvSpPr txBox="1"/>
          <p:nvPr/>
        </p:nvSpPr>
        <p:spPr>
          <a:xfrm>
            <a:off x="1147475" y="5871737"/>
            <a:ext cx="543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Winner:</a:t>
            </a:r>
            <a:endParaRPr/>
          </a:p>
        </p:txBody>
      </p:sp>
      <p:sp>
        <p:nvSpPr>
          <p:cNvPr id="426" name="Google Shape;426;p30"/>
          <p:cNvSpPr txBox="1"/>
          <p:nvPr/>
        </p:nvSpPr>
        <p:spPr>
          <a:xfrm>
            <a:off x="1713084" y="5881250"/>
            <a:ext cx="3480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1, RBF, Gamma 0.001, </a:t>
            </a:r>
            <a:r>
              <a:rPr lang="en-US">
                <a:solidFill>
                  <a:schemeClr val="dk1"/>
                </a:solidFill>
              </a:rPr>
              <a:t>Balanced</a:t>
            </a:r>
            <a:endParaRPr/>
          </a:p>
        </p:txBody>
      </p:sp>
      <p:pic>
        <p:nvPicPr>
          <p:cNvPr descr="image.png" id="427" name="Google Shape;4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6975" y="4176299"/>
            <a:ext cx="5095875" cy="2114550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30"/>
          <p:cNvSpPr txBox="1"/>
          <p:nvPr/>
        </p:nvSpPr>
        <p:spPr>
          <a:xfrm>
            <a:off x="1170100" y="1932350"/>
            <a:ext cx="4950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ADA Boosting</a:t>
            </a:r>
            <a:endParaRPr/>
          </a:p>
        </p:txBody>
      </p:sp>
      <p:sp>
        <p:nvSpPr>
          <p:cNvPr id="429" name="Google Shape;429;p30"/>
          <p:cNvSpPr txBox="1"/>
          <p:nvPr/>
        </p:nvSpPr>
        <p:spPr>
          <a:xfrm>
            <a:off x="1170100" y="2208575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n_estimators: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50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, 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00, 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00]</a:t>
            </a:r>
            <a:endParaRPr/>
          </a:p>
        </p:txBody>
      </p:sp>
      <p:sp>
        <p:nvSpPr>
          <p:cNvPr id="430" name="Google Shape;430;p30"/>
          <p:cNvSpPr txBox="1"/>
          <p:nvPr/>
        </p:nvSpPr>
        <p:spPr>
          <a:xfrm>
            <a:off x="1170100" y="2465750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learning_rate: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[0.01, 0.1, 0.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5. 1.0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31" name="Google Shape;431;p30"/>
          <p:cNvSpPr txBox="1"/>
          <p:nvPr/>
        </p:nvSpPr>
        <p:spPr>
          <a:xfrm>
            <a:off x="1170100" y="2722925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algorithm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“SAMME”, “SAMME.R”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32" name="Google Shape;432;p30"/>
          <p:cNvSpPr txBox="1"/>
          <p:nvPr/>
        </p:nvSpPr>
        <p:spPr>
          <a:xfrm>
            <a:off x="1170100" y="2980100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max_depth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1,3,5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33" name="Google Shape;433;p30"/>
          <p:cNvSpPr txBox="1"/>
          <p:nvPr/>
        </p:nvSpPr>
        <p:spPr>
          <a:xfrm>
            <a:off x="1170100" y="3484925"/>
            <a:ext cx="543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Winner:</a:t>
            </a:r>
            <a:endParaRPr/>
          </a:p>
        </p:txBody>
      </p:sp>
      <p:sp>
        <p:nvSpPr>
          <p:cNvPr id="434" name="Google Shape;434;p30"/>
          <p:cNvSpPr txBox="1"/>
          <p:nvPr/>
        </p:nvSpPr>
        <p:spPr>
          <a:xfrm>
            <a:off x="1713088" y="3494437"/>
            <a:ext cx="4714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50, 0.01, SAMME, 1</a:t>
            </a:r>
            <a:endParaRPr/>
          </a:p>
        </p:txBody>
      </p:sp>
      <p:pic>
        <p:nvPicPr>
          <p:cNvPr descr="image.png" id="435" name="Google Shape;43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6975" y="4176299"/>
            <a:ext cx="5095875" cy="2114550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30"/>
          <p:cNvSpPr txBox="1"/>
          <p:nvPr/>
        </p:nvSpPr>
        <p:spPr>
          <a:xfrm>
            <a:off x="1147475" y="4319162"/>
            <a:ext cx="4950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SVM (NoSampling_ClassWeight) </a:t>
            </a:r>
            <a:endParaRPr/>
          </a:p>
        </p:txBody>
      </p:sp>
      <p:sp>
        <p:nvSpPr>
          <p:cNvPr id="437" name="Google Shape;437;p30"/>
          <p:cNvSpPr txBox="1"/>
          <p:nvPr/>
        </p:nvSpPr>
        <p:spPr>
          <a:xfrm>
            <a:off x="1147475" y="4595387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C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[1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, 10, 100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38" name="Google Shape;438;p30"/>
          <p:cNvSpPr txBox="1"/>
          <p:nvPr/>
        </p:nvSpPr>
        <p:spPr>
          <a:xfrm>
            <a:off x="1147475" y="4852562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kernel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‘rbf’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39" name="Google Shape;439;p30"/>
          <p:cNvSpPr txBox="1"/>
          <p:nvPr/>
        </p:nvSpPr>
        <p:spPr>
          <a:xfrm>
            <a:off x="1147475" y="5109737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Gamma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“scale” ,  0.01, 0.001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40" name="Google Shape;440;p30"/>
          <p:cNvSpPr txBox="1"/>
          <p:nvPr/>
        </p:nvSpPr>
        <p:spPr>
          <a:xfrm>
            <a:off x="1147475" y="5366912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Class Weight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“Balanced”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  <p:sp>
        <p:nvSpPr>
          <p:cNvPr id="441" name="Google Shape;441;p30"/>
          <p:cNvSpPr txBox="1"/>
          <p:nvPr/>
        </p:nvSpPr>
        <p:spPr>
          <a:xfrm>
            <a:off x="1147475" y="5871737"/>
            <a:ext cx="543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Winner:</a:t>
            </a:r>
            <a:endParaRPr/>
          </a:p>
        </p:txBody>
      </p:sp>
      <p:sp>
        <p:nvSpPr>
          <p:cNvPr id="442" name="Google Shape;442;p30"/>
          <p:cNvSpPr txBox="1"/>
          <p:nvPr/>
        </p:nvSpPr>
        <p:spPr>
          <a:xfrm>
            <a:off x="1713084" y="5881250"/>
            <a:ext cx="3480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1, RBF, Gamma 0.001, </a:t>
            </a:r>
            <a:r>
              <a:rPr lang="en-US">
                <a:solidFill>
                  <a:schemeClr val="dk1"/>
                </a:solidFill>
              </a:rPr>
              <a:t>Balanced</a:t>
            </a:r>
            <a:endParaRPr/>
          </a:p>
        </p:txBody>
      </p:sp>
      <p:pic>
        <p:nvPicPr>
          <p:cNvPr descr="image.png" id="443" name="Google Shape;44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2650" y="2810338"/>
            <a:ext cx="5095875" cy="2507275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30"/>
          <p:cNvSpPr txBox="1"/>
          <p:nvPr/>
        </p:nvSpPr>
        <p:spPr>
          <a:xfrm>
            <a:off x="6873150" y="2979734"/>
            <a:ext cx="4950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GRADIENT BOOSTING GRID</a:t>
            </a:r>
            <a:endParaRPr/>
          </a:p>
        </p:txBody>
      </p:sp>
      <p:sp>
        <p:nvSpPr>
          <p:cNvPr id="445" name="Google Shape;445;p30"/>
          <p:cNvSpPr txBox="1"/>
          <p:nvPr/>
        </p:nvSpPr>
        <p:spPr>
          <a:xfrm>
            <a:off x="6816000" y="3307261"/>
            <a:ext cx="5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446" name="Google Shape;446;p30"/>
          <p:cNvSpPr txBox="1"/>
          <p:nvPr/>
        </p:nvSpPr>
        <p:spPr>
          <a:xfrm>
            <a:off x="6873150" y="3307261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n_estimators: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[100, 200, 300]</a:t>
            </a:r>
            <a:endParaRPr/>
          </a:p>
        </p:txBody>
      </p:sp>
      <p:sp>
        <p:nvSpPr>
          <p:cNvPr id="447" name="Google Shape;447;p30"/>
          <p:cNvSpPr txBox="1"/>
          <p:nvPr/>
        </p:nvSpPr>
        <p:spPr>
          <a:xfrm>
            <a:off x="6821975" y="3552850"/>
            <a:ext cx="5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448" name="Google Shape;448;p30"/>
          <p:cNvSpPr txBox="1"/>
          <p:nvPr/>
        </p:nvSpPr>
        <p:spPr>
          <a:xfrm>
            <a:off x="6879125" y="3552850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learning_rate: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[0.01, 0.1, 0.2]</a:t>
            </a:r>
            <a:endParaRPr/>
          </a:p>
        </p:txBody>
      </p:sp>
      <p:sp>
        <p:nvSpPr>
          <p:cNvPr id="449" name="Google Shape;449;p30"/>
          <p:cNvSpPr txBox="1"/>
          <p:nvPr/>
        </p:nvSpPr>
        <p:spPr>
          <a:xfrm>
            <a:off x="6816000" y="3798414"/>
            <a:ext cx="5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450" name="Google Shape;450;p30"/>
          <p:cNvSpPr txBox="1"/>
          <p:nvPr/>
        </p:nvSpPr>
        <p:spPr>
          <a:xfrm>
            <a:off x="6873150" y="3798414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max_depth: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[3, 5, 7]</a:t>
            </a:r>
            <a:endParaRPr/>
          </a:p>
        </p:txBody>
      </p:sp>
      <p:sp>
        <p:nvSpPr>
          <p:cNvPr id="451" name="Google Shape;451;p30"/>
          <p:cNvSpPr txBox="1"/>
          <p:nvPr/>
        </p:nvSpPr>
        <p:spPr>
          <a:xfrm>
            <a:off x="6793400" y="4043977"/>
            <a:ext cx="5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452" name="Google Shape;452;p30"/>
          <p:cNvSpPr txBox="1"/>
          <p:nvPr/>
        </p:nvSpPr>
        <p:spPr>
          <a:xfrm>
            <a:off x="6850550" y="4043977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subsample: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[0.8, 1.0]</a:t>
            </a:r>
            <a:endParaRPr/>
          </a:p>
        </p:txBody>
      </p:sp>
      <p:sp>
        <p:nvSpPr>
          <p:cNvPr id="453" name="Google Shape;453;p30"/>
          <p:cNvSpPr txBox="1"/>
          <p:nvPr/>
        </p:nvSpPr>
        <p:spPr>
          <a:xfrm>
            <a:off x="6873125" y="4952958"/>
            <a:ext cx="543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Winner:</a:t>
            </a:r>
            <a:endParaRPr/>
          </a:p>
        </p:txBody>
      </p:sp>
      <p:sp>
        <p:nvSpPr>
          <p:cNvPr id="454" name="Google Shape;454;p30"/>
          <p:cNvSpPr txBox="1"/>
          <p:nvPr/>
        </p:nvSpPr>
        <p:spPr>
          <a:xfrm>
            <a:off x="7539225" y="4934802"/>
            <a:ext cx="4714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100, 0.01, 3, 0.8, 1.0, 2</a:t>
            </a:r>
            <a:endParaRPr/>
          </a:p>
        </p:txBody>
      </p:sp>
      <p:sp>
        <p:nvSpPr>
          <p:cNvPr id="455" name="Google Shape;455;p30"/>
          <p:cNvSpPr txBox="1"/>
          <p:nvPr/>
        </p:nvSpPr>
        <p:spPr>
          <a:xfrm>
            <a:off x="6783000" y="4289555"/>
            <a:ext cx="5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456" name="Google Shape;456;p30"/>
          <p:cNvSpPr txBox="1"/>
          <p:nvPr/>
        </p:nvSpPr>
        <p:spPr>
          <a:xfrm>
            <a:off x="6840150" y="4289555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min_sample_leaf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[0.8, 1.0]</a:t>
            </a:r>
            <a:endParaRPr/>
          </a:p>
        </p:txBody>
      </p:sp>
      <p:sp>
        <p:nvSpPr>
          <p:cNvPr id="457" name="Google Shape;457;p30"/>
          <p:cNvSpPr txBox="1"/>
          <p:nvPr/>
        </p:nvSpPr>
        <p:spPr>
          <a:xfrm>
            <a:off x="6770475" y="4535130"/>
            <a:ext cx="5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458" name="Google Shape;458;p30"/>
          <p:cNvSpPr txBox="1"/>
          <p:nvPr/>
        </p:nvSpPr>
        <p:spPr>
          <a:xfrm>
            <a:off x="6827625" y="4535130"/>
            <a:ext cx="4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min_sample_split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: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[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, 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5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]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63" name="Google Shape;463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64" name="Google Shape;464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619250"/>
            <a:ext cx="3365450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65" name="Google Shape;465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13200" y="1619250"/>
            <a:ext cx="3365450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66" name="Google Shape;466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4400" y="1619250"/>
            <a:ext cx="3365599" cy="1857375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31"/>
          <p:cNvSpPr txBox="1"/>
          <p:nvPr/>
        </p:nvSpPr>
        <p:spPr>
          <a:xfrm>
            <a:off x="762000" y="519112"/>
            <a:ext cx="3860482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EVALUATION METRICS</a:t>
            </a:r>
            <a:endParaRPr/>
          </a:p>
        </p:txBody>
      </p:sp>
      <p:sp>
        <p:nvSpPr>
          <p:cNvPr id="468" name="Google Shape;468;p31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/1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8</a:t>
            </a:r>
            <a:endParaRPr/>
          </a:p>
        </p:txBody>
      </p:sp>
      <p:sp>
        <p:nvSpPr>
          <p:cNvPr id="469" name="Google Shape;469;p31"/>
          <p:cNvSpPr txBox="1"/>
          <p:nvPr/>
        </p:nvSpPr>
        <p:spPr>
          <a:xfrm>
            <a:off x="1047750" y="1962150"/>
            <a:ext cx="2933647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RECALL (SENSITIVITY)</a:t>
            </a:r>
            <a:endParaRPr/>
          </a:p>
        </p:txBody>
      </p:sp>
      <p:sp>
        <p:nvSpPr>
          <p:cNvPr id="470" name="Google Shape;470;p31"/>
          <p:cNvSpPr txBox="1"/>
          <p:nvPr/>
        </p:nvSpPr>
        <p:spPr>
          <a:xfrm>
            <a:off x="1047750" y="2324100"/>
            <a:ext cx="27939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"Of all the actual fraud, how much did we find?"</a:t>
            </a:r>
            <a:endParaRPr/>
          </a:p>
        </p:txBody>
      </p:sp>
      <p:sp>
        <p:nvSpPr>
          <p:cNvPr id="471" name="Google Shape;471;p31"/>
          <p:cNvSpPr txBox="1"/>
          <p:nvPr/>
        </p:nvSpPr>
        <p:spPr>
          <a:xfrm>
            <a:off x="1047750" y="2933700"/>
            <a:ext cx="27939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Target: MAXIMIZE</a:t>
            </a:r>
            <a:endParaRPr/>
          </a:p>
        </p:txBody>
      </p:sp>
      <p:sp>
        <p:nvSpPr>
          <p:cNvPr id="472" name="Google Shape;472;p31"/>
          <p:cNvSpPr txBox="1"/>
          <p:nvPr/>
        </p:nvSpPr>
        <p:spPr>
          <a:xfrm>
            <a:off x="4698950" y="1962150"/>
            <a:ext cx="2933647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PRECISION</a:t>
            </a:r>
            <a:endParaRPr/>
          </a:p>
        </p:txBody>
      </p:sp>
      <p:sp>
        <p:nvSpPr>
          <p:cNvPr id="473" name="Google Shape;473;p31"/>
          <p:cNvSpPr txBox="1"/>
          <p:nvPr/>
        </p:nvSpPr>
        <p:spPr>
          <a:xfrm>
            <a:off x="4698950" y="2324100"/>
            <a:ext cx="27939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"Of all the providers we flagged, how many were actually fraud?"</a:t>
            </a:r>
            <a:endParaRPr/>
          </a:p>
        </p:txBody>
      </p:sp>
      <p:sp>
        <p:nvSpPr>
          <p:cNvPr id="474" name="Google Shape;474;p31"/>
          <p:cNvSpPr txBox="1"/>
          <p:nvPr/>
        </p:nvSpPr>
        <p:spPr>
          <a:xfrm>
            <a:off x="4698950" y="2933700"/>
            <a:ext cx="27939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Target: BALANCE</a:t>
            </a:r>
            <a:endParaRPr/>
          </a:p>
        </p:txBody>
      </p:sp>
      <p:sp>
        <p:nvSpPr>
          <p:cNvPr id="475" name="Google Shape;475;p31"/>
          <p:cNvSpPr txBox="1"/>
          <p:nvPr/>
        </p:nvSpPr>
        <p:spPr>
          <a:xfrm>
            <a:off x="8350150" y="1962150"/>
            <a:ext cx="2933804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PR-AUC</a:t>
            </a:r>
            <a:endParaRPr/>
          </a:p>
        </p:txBody>
      </p:sp>
      <p:sp>
        <p:nvSpPr>
          <p:cNvPr id="476" name="Google Shape;476;p31"/>
          <p:cNvSpPr txBox="1"/>
          <p:nvPr/>
        </p:nvSpPr>
        <p:spPr>
          <a:xfrm>
            <a:off x="8350150" y="2324100"/>
            <a:ext cx="279409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Precision-Recall Area Under Curve.</a:t>
            </a:r>
            <a:endParaRPr/>
          </a:p>
        </p:txBody>
      </p:sp>
      <p:sp>
        <p:nvSpPr>
          <p:cNvPr id="477" name="Google Shape;477;p31"/>
          <p:cNvSpPr txBox="1"/>
          <p:nvPr/>
        </p:nvSpPr>
        <p:spPr>
          <a:xfrm>
            <a:off x="8350150" y="2676525"/>
            <a:ext cx="2794099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Target: Primary Metric for Imbalance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82" name="Google Shape;482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83" name="Google Shape;483;p32"/>
          <p:cNvGraphicFramePr/>
          <p:nvPr/>
        </p:nvGraphicFramePr>
        <p:xfrm>
          <a:off x="762000" y="16192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{009C514A-5536-4AEA-9154-31F9F0F49BC7}</a:tableStyleId>
              </a:tblPr>
              <a:tblGrid>
                <a:gridCol w="4170600"/>
                <a:gridCol w="1413125"/>
                <a:gridCol w="1706175"/>
                <a:gridCol w="1671625"/>
                <a:gridCol w="1706475"/>
              </a:tblGrid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Model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Recall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Precision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F1-Score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ROC-AUC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Gradient Boosting (</a:t>
                      </a:r>
                      <a:r>
                        <a:rPr b="1"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SMOTE</a:t>
                      </a: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84</a:t>
                      </a: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.</a:t>
                      </a:r>
                      <a:r>
                        <a:rPr b="1"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00</a:t>
                      </a: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51.00</a:t>
                      </a: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0.</a:t>
                      </a:r>
                      <a:r>
                        <a:rPr b="1"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64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0.</a:t>
                      </a:r>
                      <a:r>
                        <a:rPr b="1"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95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BEAF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SVM (RandomUnderSampler)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91</a:t>
                      </a: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.</a:t>
                      </a: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00</a:t>
                      </a: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40</a:t>
                      </a: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.</a:t>
                      </a: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00</a:t>
                      </a: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0.</a:t>
                      </a: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55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0.9</a:t>
                      </a: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AdaBoost(No Resampling)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69.00</a:t>
                      </a: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56.00</a:t>
                      </a: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0.</a:t>
                      </a: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62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0.</a:t>
                      </a: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85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84" name="Google Shape;484;p32"/>
          <p:cNvSpPr txBox="1"/>
          <p:nvPr/>
        </p:nvSpPr>
        <p:spPr>
          <a:xfrm>
            <a:off x="762000" y="519112"/>
            <a:ext cx="4710588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MODEL RESULTS: TEST SET</a:t>
            </a:r>
            <a:endParaRPr/>
          </a:p>
        </p:txBody>
      </p:sp>
      <p:sp>
        <p:nvSpPr>
          <p:cNvPr id="485" name="Google Shape;485;p32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/1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9</a:t>
            </a:r>
            <a:endParaRPr/>
          </a:p>
        </p:txBody>
      </p:sp>
      <p:sp>
        <p:nvSpPr>
          <p:cNvPr id="486" name="Google Shape;486;p32"/>
          <p:cNvSpPr/>
          <p:nvPr/>
        </p:nvSpPr>
        <p:spPr>
          <a:xfrm>
            <a:off x="762000" y="2614612"/>
            <a:ext cx="41706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32"/>
          <p:cNvSpPr/>
          <p:nvPr/>
        </p:nvSpPr>
        <p:spPr>
          <a:xfrm>
            <a:off x="4932610" y="2614612"/>
            <a:ext cx="141312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2"/>
          <p:cNvSpPr/>
          <p:nvPr/>
        </p:nvSpPr>
        <p:spPr>
          <a:xfrm>
            <a:off x="6345733" y="2614612"/>
            <a:ext cx="1706165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32"/>
          <p:cNvSpPr/>
          <p:nvPr/>
        </p:nvSpPr>
        <p:spPr>
          <a:xfrm>
            <a:off x="8051899" y="2614612"/>
            <a:ext cx="1671637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2"/>
          <p:cNvSpPr/>
          <p:nvPr/>
        </p:nvSpPr>
        <p:spPr>
          <a:xfrm>
            <a:off x="9723536" y="2614612"/>
            <a:ext cx="170646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32"/>
          <p:cNvSpPr/>
          <p:nvPr/>
        </p:nvSpPr>
        <p:spPr>
          <a:xfrm>
            <a:off x="762000" y="3138487"/>
            <a:ext cx="4170610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32"/>
          <p:cNvSpPr/>
          <p:nvPr/>
        </p:nvSpPr>
        <p:spPr>
          <a:xfrm>
            <a:off x="4932610" y="3138487"/>
            <a:ext cx="141312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32"/>
          <p:cNvSpPr/>
          <p:nvPr/>
        </p:nvSpPr>
        <p:spPr>
          <a:xfrm>
            <a:off x="6345733" y="3138487"/>
            <a:ext cx="1706165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32"/>
          <p:cNvSpPr/>
          <p:nvPr/>
        </p:nvSpPr>
        <p:spPr>
          <a:xfrm>
            <a:off x="8051899" y="3138487"/>
            <a:ext cx="1671637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32"/>
          <p:cNvSpPr/>
          <p:nvPr/>
        </p:nvSpPr>
        <p:spPr>
          <a:xfrm>
            <a:off x="9723536" y="3138487"/>
            <a:ext cx="170646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32"/>
          <p:cNvSpPr/>
          <p:nvPr/>
        </p:nvSpPr>
        <p:spPr>
          <a:xfrm>
            <a:off x="762000" y="3662362"/>
            <a:ext cx="4170610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2"/>
          <p:cNvSpPr/>
          <p:nvPr/>
        </p:nvSpPr>
        <p:spPr>
          <a:xfrm>
            <a:off x="4932610" y="3662362"/>
            <a:ext cx="141312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32"/>
          <p:cNvSpPr/>
          <p:nvPr/>
        </p:nvSpPr>
        <p:spPr>
          <a:xfrm>
            <a:off x="6345733" y="3662362"/>
            <a:ext cx="1706165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32"/>
          <p:cNvSpPr/>
          <p:nvPr/>
        </p:nvSpPr>
        <p:spPr>
          <a:xfrm>
            <a:off x="8051899" y="3662362"/>
            <a:ext cx="1671637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32"/>
          <p:cNvSpPr/>
          <p:nvPr/>
        </p:nvSpPr>
        <p:spPr>
          <a:xfrm>
            <a:off x="9723536" y="3662362"/>
            <a:ext cx="170646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05" name="Google Shape;50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506" name="Google Shape;506;p33"/>
          <p:cNvSpPr txBox="1"/>
          <p:nvPr/>
        </p:nvSpPr>
        <p:spPr>
          <a:xfrm>
            <a:off x="762000" y="519112"/>
            <a:ext cx="38604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50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Confusion Matrix</a:t>
            </a:r>
            <a:endParaRPr/>
          </a:p>
        </p:txBody>
      </p:sp>
      <p:sp>
        <p:nvSpPr>
          <p:cNvPr id="507" name="Google Shape;507;p33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20</a:t>
            </a:r>
            <a:endParaRPr/>
          </a:p>
        </p:txBody>
      </p:sp>
      <p:pic>
        <p:nvPicPr>
          <p:cNvPr id="508" name="Google Shape;508;p33" title="img 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136888"/>
            <a:ext cx="11887199" cy="325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13" name="Google Shape;5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4" name="Google Shape;514;p34"/>
          <p:cNvSpPr txBox="1"/>
          <p:nvPr/>
        </p:nvSpPr>
        <p:spPr>
          <a:xfrm>
            <a:off x="762000" y="519112"/>
            <a:ext cx="4710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50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Radar Chart</a:t>
            </a:r>
            <a:endParaRPr/>
          </a:p>
        </p:txBody>
      </p:sp>
      <p:sp>
        <p:nvSpPr>
          <p:cNvPr id="515" name="Google Shape;515;p34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21</a:t>
            </a:r>
            <a:endParaRPr/>
          </a:p>
        </p:txBody>
      </p:sp>
      <p:pic>
        <p:nvPicPr>
          <p:cNvPr id="516" name="Google Shape;516;p34" title="img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5775" y="1308712"/>
            <a:ext cx="6038930" cy="51682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21" name="Google Shape;52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22" name="Google Shape;522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1428750"/>
            <a:ext cx="5095875" cy="4953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p35"/>
          <p:cNvSpPr txBox="1"/>
          <p:nvPr/>
        </p:nvSpPr>
        <p:spPr>
          <a:xfrm>
            <a:off x="762000" y="519112"/>
            <a:ext cx="4430553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DEEP DIVE: SVM RESULTS</a:t>
            </a:r>
            <a:endParaRPr/>
          </a:p>
        </p:txBody>
      </p:sp>
      <p:sp>
        <p:nvSpPr>
          <p:cNvPr id="524" name="Google Shape;524;p35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22</a:t>
            </a:r>
            <a:endParaRPr/>
          </a:p>
        </p:txBody>
      </p:sp>
      <p:sp>
        <p:nvSpPr>
          <p:cNvPr id="525" name="Google Shape;525;p35"/>
          <p:cNvSpPr txBox="1"/>
          <p:nvPr/>
        </p:nvSpPr>
        <p:spPr>
          <a:xfrm>
            <a:off x="762000" y="2852737"/>
            <a:ext cx="5350668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HIGH RECALL TRAP</a:t>
            </a:r>
            <a:endParaRPr/>
          </a:p>
        </p:txBody>
      </p:sp>
      <p:sp>
        <p:nvSpPr>
          <p:cNvPr id="526" name="Google Shape;526;p35"/>
          <p:cNvSpPr txBox="1"/>
          <p:nvPr/>
        </p:nvSpPr>
        <p:spPr>
          <a:xfrm>
            <a:off x="762000" y="3033712"/>
            <a:ext cx="5095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SVM with RandomUnderSampler achieved an incredible 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9</a:t>
            </a: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.</a:t>
            </a: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0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% Recall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.</a:t>
            </a:r>
            <a:endParaRPr/>
          </a:p>
        </p:txBody>
      </p:sp>
      <p:sp>
        <p:nvSpPr>
          <p:cNvPr id="527" name="Google Shape;527;p35"/>
          <p:cNvSpPr txBox="1"/>
          <p:nvPr/>
        </p:nvSpPr>
        <p:spPr>
          <a:xfrm>
            <a:off x="762000" y="3738562"/>
            <a:ext cx="50958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However, it achieved this by being "trigger happy".</a:t>
            </a:r>
            <a:endParaRPr/>
          </a:p>
        </p:txBody>
      </p:sp>
      <p:sp>
        <p:nvSpPr>
          <p:cNvPr id="528" name="Google Shape;528;p35"/>
          <p:cNvSpPr txBox="1"/>
          <p:nvPr/>
        </p:nvSpPr>
        <p:spPr>
          <a:xfrm>
            <a:off x="762000" y="4186237"/>
            <a:ext cx="5095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2382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0392B"/>
                </a:solidFill>
                <a:latin typeface="Barlow"/>
                <a:ea typeface="Barlow"/>
                <a:cs typeface="Barlow"/>
                <a:sym typeface="Barlow"/>
              </a:rPr>
              <a:t>Precision: </a:t>
            </a:r>
            <a:r>
              <a:rPr b="1" lang="en-US" sz="1350">
                <a:solidFill>
                  <a:srgbClr val="C0392B"/>
                </a:solidFill>
                <a:latin typeface="Barlow"/>
                <a:ea typeface="Barlow"/>
                <a:cs typeface="Barlow"/>
                <a:sym typeface="Barlow"/>
              </a:rPr>
              <a:t>40</a:t>
            </a:r>
            <a:r>
              <a:rPr b="1" i="0" lang="en-US" sz="1350" u="none" cap="none" strike="noStrike">
                <a:solidFill>
                  <a:srgbClr val="C0392B"/>
                </a:solidFill>
                <a:latin typeface="Barlow"/>
                <a:ea typeface="Barlow"/>
                <a:cs typeface="Barlow"/>
                <a:sym typeface="Barlow"/>
              </a:rPr>
              <a:t>%</a:t>
            </a:r>
            <a:endParaRPr/>
          </a:p>
        </p:txBody>
      </p:sp>
      <p:sp>
        <p:nvSpPr>
          <p:cNvPr id="529" name="Google Shape;529;p35"/>
          <p:cNvSpPr txBox="1"/>
          <p:nvPr/>
        </p:nvSpPr>
        <p:spPr>
          <a:xfrm>
            <a:off x="762000" y="4443412"/>
            <a:ext cx="50958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This means for every 3 alerts, 2 are false alarms.</a:t>
            </a:r>
            <a:endParaRPr/>
          </a:p>
        </p:txBody>
      </p:sp>
      <p:sp>
        <p:nvSpPr>
          <p:cNvPr id="530" name="Google Shape;530;p35"/>
          <p:cNvSpPr txBox="1"/>
          <p:nvPr/>
        </p:nvSpPr>
        <p:spPr>
          <a:xfrm>
            <a:off x="762000" y="4700587"/>
            <a:ext cx="50958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Operally unsustainable for manual review teams.</a:t>
            </a:r>
            <a:endParaRPr/>
          </a:p>
        </p:txBody>
      </p:sp>
      <p:sp>
        <p:nvSpPr>
          <p:cNvPr id="531" name="Google Shape;531;p35"/>
          <p:cNvSpPr txBox="1"/>
          <p:nvPr/>
        </p:nvSpPr>
        <p:spPr>
          <a:xfrm>
            <a:off x="8310562" y="2876550"/>
            <a:ext cx="1143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rgbClr val="C0392B"/>
                </a:solidFill>
                <a:latin typeface="Barlow"/>
                <a:ea typeface="Barlow"/>
                <a:cs typeface="Barlow"/>
                <a:sym typeface="Barlow"/>
              </a:rPr>
              <a:t>210</a:t>
            </a:r>
            <a:endParaRPr/>
          </a:p>
        </p:txBody>
      </p:sp>
      <p:sp>
        <p:nvSpPr>
          <p:cNvPr id="532" name="Google Shape;532;p35"/>
          <p:cNvSpPr txBox="1"/>
          <p:nvPr/>
        </p:nvSpPr>
        <p:spPr>
          <a:xfrm>
            <a:off x="8310562" y="3562350"/>
            <a:ext cx="11430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False Positives</a:t>
            </a:r>
            <a:endParaRPr/>
          </a:p>
        </p:txBody>
      </p:sp>
      <p:sp>
        <p:nvSpPr>
          <p:cNvPr id="533" name="Google Shape;533;p35"/>
          <p:cNvSpPr/>
          <p:nvPr/>
        </p:nvSpPr>
        <p:spPr>
          <a:xfrm>
            <a:off x="8596312" y="4010025"/>
            <a:ext cx="571500" cy="19050"/>
          </a:xfrm>
          <a:prstGeom prst="rect">
            <a:avLst/>
          </a:prstGeom>
          <a:solidFill>
            <a:srgbClr val="2E36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35"/>
          <p:cNvSpPr txBox="1"/>
          <p:nvPr/>
        </p:nvSpPr>
        <p:spPr>
          <a:xfrm>
            <a:off x="8310562" y="4219575"/>
            <a:ext cx="11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138</a:t>
            </a:r>
            <a:endParaRPr/>
          </a:p>
        </p:txBody>
      </p:sp>
      <p:sp>
        <p:nvSpPr>
          <p:cNvPr id="535" name="Google Shape;535;p35"/>
          <p:cNvSpPr txBox="1"/>
          <p:nvPr/>
        </p:nvSpPr>
        <p:spPr>
          <a:xfrm>
            <a:off x="8310562" y="4676775"/>
            <a:ext cx="11430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True Positives</a:t>
            </a:r>
            <a:endParaRPr/>
          </a:p>
        </p:txBody>
      </p:sp>
      <p:pic>
        <p:nvPicPr>
          <p:cNvPr descr="image.png" id="536" name="Google Shape;536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4229100"/>
            <a:ext cx="123825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41" name="Google Shape;54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42" name="Google Shape;54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1428750"/>
            <a:ext cx="5095875" cy="4953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3" name="Google Shape;543;p36"/>
          <p:cNvSpPr txBox="1"/>
          <p:nvPr/>
        </p:nvSpPr>
        <p:spPr>
          <a:xfrm>
            <a:off x="762000" y="519112"/>
            <a:ext cx="44307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DEEP DIVE: </a:t>
            </a:r>
            <a:r>
              <a:rPr b="1" lang="en-US" sz="3150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ADA Boosting </a:t>
            </a: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RESULTS</a:t>
            </a:r>
            <a:endParaRPr/>
          </a:p>
        </p:txBody>
      </p:sp>
      <p:sp>
        <p:nvSpPr>
          <p:cNvPr id="544" name="Google Shape;544;p36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23</a:t>
            </a:r>
            <a:endParaRPr/>
          </a:p>
        </p:txBody>
      </p:sp>
      <p:sp>
        <p:nvSpPr>
          <p:cNvPr id="545" name="Google Shape;545;p36"/>
          <p:cNvSpPr txBox="1"/>
          <p:nvPr/>
        </p:nvSpPr>
        <p:spPr>
          <a:xfrm>
            <a:off x="762000" y="2852737"/>
            <a:ext cx="535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Low </a:t>
            </a:r>
            <a:r>
              <a:rPr b="1" i="0" lang="en-US" sz="12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HIGH RECALL TRAP</a:t>
            </a:r>
            <a:endParaRPr/>
          </a:p>
        </p:txBody>
      </p:sp>
      <p:sp>
        <p:nvSpPr>
          <p:cNvPr id="546" name="Google Shape;546;p36"/>
          <p:cNvSpPr txBox="1"/>
          <p:nvPr/>
        </p:nvSpPr>
        <p:spPr>
          <a:xfrm>
            <a:off x="762000" y="3033712"/>
            <a:ext cx="50958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AdaBoosting 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with 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NoResampling 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achieved an incredible </a:t>
            </a: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56.0</a:t>
            </a: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% </a:t>
            </a:r>
            <a:r>
              <a:rPr b="1"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Precision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.</a:t>
            </a:r>
            <a:endParaRPr/>
          </a:p>
        </p:txBody>
      </p:sp>
      <p:sp>
        <p:nvSpPr>
          <p:cNvPr id="547" name="Google Shape;547;p36"/>
          <p:cNvSpPr txBox="1"/>
          <p:nvPr/>
        </p:nvSpPr>
        <p:spPr>
          <a:xfrm>
            <a:off x="762000" y="3738562"/>
            <a:ext cx="5095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However, it achieved this by being "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Strict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".</a:t>
            </a:r>
            <a:endParaRPr/>
          </a:p>
        </p:txBody>
      </p:sp>
      <p:sp>
        <p:nvSpPr>
          <p:cNvPr id="548" name="Google Shape;548;p36"/>
          <p:cNvSpPr txBox="1"/>
          <p:nvPr/>
        </p:nvSpPr>
        <p:spPr>
          <a:xfrm>
            <a:off x="762000" y="4186237"/>
            <a:ext cx="5095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2382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C0392B"/>
                </a:solidFill>
                <a:latin typeface="Barlow"/>
                <a:ea typeface="Barlow"/>
                <a:cs typeface="Barlow"/>
                <a:sym typeface="Barlow"/>
              </a:rPr>
              <a:t>Recall</a:t>
            </a:r>
            <a:r>
              <a:rPr b="1" i="0" lang="en-US" sz="1350" u="none" cap="none" strike="noStrike">
                <a:solidFill>
                  <a:srgbClr val="C0392B"/>
                </a:solidFill>
                <a:latin typeface="Barlow"/>
                <a:ea typeface="Barlow"/>
                <a:cs typeface="Barlow"/>
                <a:sym typeface="Barlow"/>
              </a:rPr>
              <a:t>: </a:t>
            </a:r>
            <a:r>
              <a:rPr b="1" lang="en-US" sz="1350">
                <a:solidFill>
                  <a:srgbClr val="C0392B"/>
                </a:solidFill>
                <a:latin typeface="Barlow"/>
                <a:ea typeface="Barlow"/>
                <a:cs typeface="Barlow"/>
                <a:sym typeface="Barlow"/>
              </a:rPr>
              <a:t>69</a:t>
            </a:r>
            <a:r>
              <a:rPr b="1" i="0" lang="en-US" sz="1350" u="none" cap="none" strike="noStrike">
                <a:solidFill>
                  <a:srgbClr val="C0392B"/>
                </a:solidFill>
                <a:latin typeface="Barlow"/>
                <a:ea typeface="Barlow"/>
                <a:cs typeface="Barlow"/>
                <a:sym typeface="Barlow"/>
              </a:rPr>
              <a:t>%</a:t>
            </a:r>
            <a:endParaRPr/>
          </a:p>
        </p:txBody>
      </p:sp>
      <p:sp>
        <p:nvSpPr>
          <p:cNvPr id="549" name="Google Shape;549;p36"/>
          <p:cNvSpPr txBox="1"/>
          <p:nvPr/>
        </p:nvSpPr>
        <p:spPr>
          <a:xfrm>
            <a:off x="762000" y="4443412"/>
            <a:ext cx="50958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“This means for every 10 real fraud cases, the model correctly catches about 7 and misses about 3</a:t>
            </a:r>
            <a:endParaRPr/>
          </a:p>
        </p:txBody>
      </p:sp>
      <p:sp>
        <p:nvSpPr>
          <p:cNvPr id="550" name="Google Shape;550;p36"/>
          <p:cNvSpPr txBox="1"/>
          <p:nvPr/>
        </p:nvSpPr>
        <p:spPr>
          <a:xfrm>
            <a:off x="762000" y="5107787"/>
            <a:ext cx="50958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Operationally dangerous because a large share of fraud slips through undetected.</a:t>
            </a:r>
            <a:endParaRPr/>
          </a:p>
        </p:txBody>
      </p:sp>
      <p:sp>
        <p:nvSpPr>
          <p:cNvPr id="551" name="Google Shape;551;p36"/>
          <p:cNvSpPr txBox="1"/>
          <p:nvPr/>
        </p:nvSpPr>
        <p:spPr>
          <a:xfrm>
            <a:off x="8310562" y="2876550"/>
            <a:ext cx="1143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rgbClr val="C0392B"/>
                </a:solidFill>
                <a:latin typeface="Barlow"/>
                <a:ea typeface="Barlow"/>
                <a:cs typeface="Barlow"/>
                <a:sym typeface="Barlow"/>
              </a:rPr>
              <a:t>74</a:t>
            </a:r>
            <a:endParaRPr/>
          </a:p>
        </p:txBody>
      </p:sp>
      <p:sp>
        <p:nvSpPr>
          <p:cNvPr id="552" name="Google Shape;552;p36"/>
          <p:cNvSpPr txBox="1"/>
          <p:nvPr/>
        </p:nvSpPr>
        <p:spPr>
          <a:xfrm>
            <a:off x="8310548" y="3562350"/>
            <a:ext cx="1319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False Negatives</a:t>
            </a:r>
            <a:endParaRPr/>
          </a:p>
        </p:txBody>
      </p:sp>
      <p:sp>
        <p:nvSpPr>
          <p:cNvPr id="553" name="Google Shape;553;p36"/>
          <p:cNvSpPr/>
          <p:nvPr/>
        </p:nvSpPr>
        <p:spPr>
          <a:xfrm>
            <a:off x="8596312" y="4010025"/>
            <a:ext cx="571500" cy="19200"/>
          </a:xfrm>
          <a:prstGeom prst="rect">
            <a:avLst/>
          </a:prstGeom>
          <a:solidFill>
            <a:srgbClr val="2E36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36"/>
          <p:cNvSpPr txBox="1"/>
          <p:nvPr/>
        </p:nvSpPr>
        <p:spPr>
          <a:xfrm>
            <a:off x="8310562" y="4219575"/>
            <a:ext cx="11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105</a:t>
            </a:r>
            <a:endParaRPr/>
          </a:p>
        </p:txBody>
      </p:sp>
      <p:sp>
        <p:nvSpPr>
          <p:cNvPr id="555" name="Google Shape;555;p36"/>
          <p:cNvSpPr txBox="1"/>
          <p:nvPr/>
        </p:nvSpPr>
        <p:spPr>
          <a:xfrm>
            <a:off x="8310562" y="4676775"/>
            <a:ext cx="1143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True Positives</a:t>
            </a:r>
            <a:endParaRPr/>
          </a:p>
        </p:txBody>
      </p:sp>
      <p:pic>
        <p:nvPicPr>
          <p:cNvPr descr="image.png" id="556" name="Google Shape;556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4229100"/>
            <a:ext cx="123825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3875"/>
        </a:solidFill>
      </p:bgPr>
    </p:bg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61" name="Google Shape;561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4125" y="2971800"/>
            <a:ext cx="5095875" cy="1962150"/>
          </a:xfrm>
          <a:prstGeom prst="rect">
            <a:avLst/>
          </a:prstGeom>
          <a:noFill/>
          <a:ln>
            <a:noFill/>
          </a:ln>
        </p:spPr>
      </p:pic>
      <p:sp>
        <p:nvSpPr>
          <p:cNvPr id="562" name="Google Shape;562;p37"/>
          <p:cNvSpPr txBox="1"/>
          <p:nvPr/>
        </p:nvSpPr>
        <p:spPr>
          <a:xfrm>
            <a:off x="762000" y="523875"/>
            <a:ext cx="4430553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CHAMPION: GRADIENT BOOSTING</a:t>
            </a:r>
            <a:endParaRPr/>
          </a:p>
        </p:txBody>
      </p:sp>
      <p:pic>
        <p:nvPicPr>
          <p:cNvPr descr="image.png" id="563" name="Google Shape;563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15650" y="476250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564" name="Google Shape;564;p37"/>
          <p:cNvSpPr txBox="1"/>
          <p:nvPr/>
        </p:nvSpPr>
        <p:spPr>
          <a:xfrm>
            <a:off x="762000" y="2914650"/>
            <a:ext cx="5350668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GOLDILOCKS ZONE</a:t>
            </a:r>
            <a:endParaRPr/>
          </a:p>
        </p:txBody>
      </p:sp>
      <p:sp>
        <p:nvSpPr>
          <p:cNvPr id="565" name="Google Shape;565;p37"/>
          <p:cNvSpPr txBox="1"/>
          <p:nvPr/>
        </p:nvSpPr>
        <p:spPr>
          <a:xfrm>
            <a:off x="762000" y="3314700"/>
            <a:ext cx="50958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GBM offers the optimal trade-off.</a:t>
            </a:r>
            <a:endParaRPr/>
          </a:p>
        </p:txBody>
      </p:sp>
      <p:sp>
        <p:nvSpPr>
          <p:cNvPr id="566" name="Google Shape;566;p37"/>
          <p:cNvSpPr txBox="1"/>
          <p:nvPr/>
        </p:nvSpPr>
        <p:spPr>
          <a:xfrm>
            <a:off x="6726201" y="3352800"/>
            <a:ext cx="4333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6D98D7"/>
                </a:solidFill>
                <a:latin typeface="Barlow"/>
                <a:ea typeface="Barlow"/>
                <a:cs typeface="Barlow"/>
                <a:sym typeface="Barlow"/>
              </a:rPr>
              <a:t>0.9</a:t>
            </a:r>
            <a:r>
              <a:rPr b="1" lang="en-US" sz="6000">
                <a:solidFill>
                  <a:srgbClr val="6D98D7"/>
                </a:solidFill>
                <a:latin typeface="Barlow"/>
                <a:ea typeface="Barlow"/>
                <a:cs typeface="Barlow"/>
                <a:sym typeface="Barlow"/>
              </a:rPr>
              <a:t>5</a:t>
            </a:r>
            <a:endParaRPr/>
          </a:p>
        </p:txBody>
      </p:sp>
      <p:sp>
        <p:nvSpPr>
          <p:cNvPr id="567" name="Google Shape;567;p37"/>
          <p:cNvSpPr txBox="1"/>
          <p:nvPr/>
        </p:nvSpPr>
        <p:spPr>
          <a:xfrm>
            <a:off x="6715125" y="4267200"/>
            <a:ext cx="43338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ROC-AUC Score</a:t>
            </a:r>
            <a:endParaRPr/>
          </a:p>
        </p:txBody>
      </p:sp>
      <p:sp>
        <p:nvSpPr>
          <p:cNvPr id="568" name="Google Shape;568;p37"/>
          <p:cNvSpPr txBox="1"/>
          <p:nvPr/>
        </p:nvSpPr>
        <p:spPr>
          <a:xfrm>
            <a:off x="762000" y="3790950"/>
            <a:ext cx="5095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524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84.00</a:t>
            </a:r>
            <a:r>
              <a:rPr b="1" i="0" lang="en-US" sz="1350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% Recall:</a:t>
            </a:r>
            <a:r>
              <a:rPr b="0" i="0" lang="en-US" sz="1350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 Misses very few frauds.</a:t>
            </a:r>
            <a:endParaRPr/>
          </a:p>
        </p:txBody>
      </p:sp>
      <p:sp>
        <p:nvSpPr>
          <p:cNvPr id="569" name="Google Shape;569;p37"/>
          <p:cNvSpPr txBox="1"/>
          <p:nvPr/>
        </p:nvSpPr>
        <p:spPr>
          <a:xfrm>
            <a:off x="762000" y="4191000"/>
            <a:ext cx="5095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524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51</a:t>
            </a:r>
            <a:r>
              <a:rPr b="1" i="0" lang="en-US" sz="1350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% Precision:</a:t>
            </a:r>
            <a:r>
              <a:rPr b="0" i="0" lang="en-US" sz="1350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 1 in 2 alerts is real.</a:t>
            </a:r>
            <a:endParaRPr/>
          </a:p>
        </p:txBody>
      </p:sp>
      <p:sp>
        <p:nvSpPr>
          <p:cNvPr id="570" name="Google Shape;570;p37"/>
          <p:cNvSpPr txBox="1"/>
          <p:nvPr/>
        </p:nvSpPr>
        <p:spPr>
          <a:xfrm>
            <a:off x="762000" y="4591050"/>
            <a:ext cx="5095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524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0.64</a:t>
            </a:r>
            <a:r>
              <a:rPr b="1" i="0" lang="en-US" sz="1350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 F1-Score:</a:t>
            </a:r>
            <a:r>
              <a:rPr b="0" i="0" lang="en-US" sz="1350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 Highest harmonic mean.</a:t>
            </a:r>
            <a:endParaRPr/>
          </a:p>
        </p:txBody>
      </p:sp>
      <p:pic>
        <p:nvPicPr>
          <p:cNvPr descr="image.png" id="571" name="Google Shape;571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3833812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72" name="Google Shape;572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4233862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73" name="Google Shape;573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4633912"/>
            <a:ext cx="15240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78" name="Google Shape;578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79" name="Google Shape;579;p38"/>
          <p:cNvGraphicFramePr/>
          <p:nvPr/>
        </p:nvGraphicFramePr>
        <p:xfrm>
          <a:off x="762000" y="16192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{009C514A-5536-4AEA-9154-31F9F0F49BC7}</a:tableStyleId>
              </a:tblPr>
              <a:tblGrid>
                <a:gridCol w="1046100"/>
                <a:gridCol w="3170175"/>
                <a:gridCol w="2504475"/>
                <a:gridCol w="3947225"/>
              </a:tblGrid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Rank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Feature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Importance Score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Interpretation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387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ClaimDurationDays_max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0.</a:t>
                      </a: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69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Length of stay is the #1 signal.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AttPhys_per_Bene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0.1</a:t>
                      </a: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Sum of attending Physicians per </a:t>
                      </a: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Beneficiary</a:t>
                      </a:r>
                      <a:endParaRPr sz="1200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DiagnosisGroup_Unique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0.04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Complexity of cases billed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OtherPhysician_get_mode_count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0.0</a:t>
                      </a: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Highest freq of other Physician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80" name="Google Shape;580;p38"/>
          <p:cNvSpPr txBox="1"/>
          <p:nvPr/>
        </p:nvSpPr>
        <p:spPr>
          <a:xfrm>
            <a:off x="762000" y="519112"/>
            <a:ext cx="4490561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DRIVERS OF FRAUD (GBM)</a:t>
            </a:r>
            <a:endParaRPr/>
          </a:p>
        </p:txBody>
      </p:sp>
      <p:sp>
        <p:nvSpPr>
          <p:cNvPr id="581" name="Google Shape;581;p38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/2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5</a:t>
            </a:r>
            <a:endParaRPr/>
          </a:p>
        </p:txBody>
      </p:sp>
      <p:sp>
        <p:nvSpPr>
          <p:cNvPr id="582" name="Google Shape;582;p38"/>
          <p:cNvSpPr/>
          <p:nvPr/>
        </p:nvSpPr>
        <p:spPr>
          <a:xfrm>
            <a:off x="762000" y="2614612"/>
            <a:ext cx="104611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38"/>
          <p:cNvSpPr/>
          <p:nvPr/>
        </p:nvSpPr>
        <p:spPr>
          <a:xfrm>
            <a:off x="1808112" y="2614612"/>
            <a:ext cx="3170187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38"/>
          <p:cNvSpPr/>
          <p:nvPr/>
        </p:nvSpPr>
        <p:spPr>
          <a:xfrm>
            <a:off x="4978300" y="2614612"/>
            <a:ext cx="2504479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38"/>
          <p:cNvSpPr/>
          <p:nvPr/>
        </p:nvSpPr>
        <p:spPr>
          <a:xfrm>
            <a:off x="7482780" y="2614612"/>
            <a:ext cx="3947219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38"/>
          <p:cNvSpPr/>
          <p:nvPr/>
        </p:nvSpPr>
        <p:spPr>
          <a:xfrm>
            <a:off x="762000" y="3138487"/>
            <a:ext cx="104611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38"/>
          <p:cNvSpPr/>
          <p:nvPr/>
        </p:nvSpPr>
        <p:spPr>
          <a:xfrm>
            <a:off x="1808112" y="3138487"/>
            <a:ext cx="3170187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38"/>
          <p:cNvSpPr/>
          <p:nvPr/>
        </p:nvSpPr>
        <p:spPr>
          <a:xfrm>
            <a:off x="4978300" y="3138487"/>
            <a:ext cx="2504479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38"/>
          <p:cNvSpPr/>
          <p:nvPr/>
        </p:nvSpPr>
        <p:spPr>
          <a:xfrm>
            <a:off x="7482780" y="3138487"/>
            <a:ext cx="3947219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38"/>
          <p:cNvSpPr/>
          <p:nvPr/>
        </p:nvSpPr>
        <p:spPr>
          <a:xfrm>
            <a:off x="762000" y="3662362"/>
            <a:ext cx="104611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38"/>
          <p:cNvSpPr/>
          <p:nvPr/>
        </p:nvSpPr>
        <p:spPr>
          <a:xfrm>
            <a:off x="1808112" y="3662362"/>
            <a:ext cx="3170187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38"/>
          <p:cNvSpPr/>
          <p:nvPr/>
        </p:nvSpPr>
        <p:spPr>
          <a:xfrm>
            <a:off x="4978300" y="3662362"/>
            <a:ext cx="2504479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38"/>
          <p:cNvSpPr/>
          <p:nvPr/>
        </p:nvSpPr>
        <p:spPr>
          <a:xfrm>
            <a:off x="7482780" y="3662362"/>
            <a:ext cx="3947219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98" name="Google Shape;598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99" name="Google Shape;599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619250"/>
            <a:ext cx="5238750" cy="1533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00" name="Google Shape;600;p3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250" y="1619250"/>
            <a:ext cx="5238750" cy="1533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01" name="Google Shape;601;p3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3343275"/>
            <a:ext cx="5238750" cy="1533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02" name="Google Shape;602;p3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91250" y="3343275"/>
            <a:ext cx="5238750" cy="1533525"/>
          </a:xfrm>
          <a:prstGeom prst="rect">
            <a:avLst/>
          </a:prstGeom>
          <a:noFill/>
          <a:ln>
            <a:noFill/>
          </a:ln>
        </p:spPr>
      </p:pic>
      <p:sp>
        <p:nvSpPr>
          <p:cNvPr id="603" name="Google Shape;603;p39"/>
          <p:cNvSpPr txBox="1"/>
          <p:nvPr/>
        </p:nvSpPr>
        <p:spPr>
          <a:xfrm>
            <a:off x="762000" y="519112"/>
            <a:ext cx="4620577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FINAL CONFUSION MATRIX</a:t>
            </a:r>
            <a:endParaRPr/>
          </a:p>
        </p:txBody>
      </p:sp>
      <p:sp>
        <p:nvSpPr>
          <p:cNvPr id="604" name="Google Shape;604;p39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/2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6</a:t>
            </a:r>
            <a:endParaRPr/>
          </a:p>
        </p:txBody>
      </p:sp>
      <p:sp>
        <p:nvSpPr>
          <p:cNvPr id="605" name="Google Shape;605;p39"/>
          <p:cNvSpPr txBox="1"/>
          <p:nvPr/>
        </p:nvSpPr>
        <p:spPr>
          <a:xfrm>
            <a:off x="1143000" y="2000250"/>
            <a:ext cx="4476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1351</a:t>
            </a:r>
            <a:endParaRPr/>
          </a:p>
        </p:txBody>
      </p:sp>
      <p:sp>
        <p:nvSpPr>
          <p:cNvPr id="606" name="Google Shape;606;p39"/>
          <p:cNvSpPr txBox="1"/>
          <p:nvPr/>
        </p:nvSpPr>
        <p:spPr>
          <a:xfrm>
            <a:off x="1143000" y="2552700"/>
            <a:ext cx="447675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True Negative (Clean)</a:t>
            </a:r>
            <a:endParaRPr/>
          </a:p>
        </p:txBody>
      </p:sp>
      <p:sp>
        <p:nvSpPr>
          <p:cNvPr id="607" name="Google Shape;607;p39"/>
          <p:cNvSpPr txBox="1"/>
          <p:nvPr/>
        </p:nvSpPr>
        <p:spPr>
          <a:xfrm>
            <a:off x="6591300" y="2019300"/>
            <a:ext cx="4438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C0392B"/>
                </a:solidFill>
                <a:latin typeface="Barlow"/>
                <a:ea typeface="Barlow"/>
                <a:cs typeface="Barlow"/>
                <a:sym typeface="Barlow"/>
              </a:rPr>
              <a:t>120</a:t>
            </a:r>
            <a:endParaRPr/>
          </a:p>
        </p:txBody>
      </p:sp>
      <p:sp>
        <p:nvSpPr>
          <p:cNvPr id="608" name="Google Shape;608;p39"/>
          <p:cNvSpPr txBox="1"/>
          <p:nvPr/>
        </p:nvSpPr>
        <p:spPr>
          <a:xfrm>
            <a:off x="6591300" y="2571750"/>
            <a:ext cx="443865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False Positive (False Alarm)</a:t>
            </a:r>
            <a:endParaRPr/>
          </a:p>
        </p:txBody>
      </p:sp>
      <p:sp>
        <p:nvSpPr>
          <p:cNvPr id="609" name="Google Shape;609;p39"/>
          <p:cNvSpPr txBox="1"/>
          <p:nvPr/>
        </p:nvSpPr>
        <p:spPr>
          <a:xfrm>
            <a:off x="1162050" y="3743325"/>
            <a:ext cx="4438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C0392B"/>
                </a:solidFill>
                <a:latin typeface="Barlow"/>
                <a:ea typeface="Barlow"/>
                <a:cs typeface="Barlow"/>
                <a:sym typeface="Barlow"/>
              </a:rPr>
              <a:t>25</a:t>
            </a:r>
            <a:endParaRPr/>
          </a:p>
        </p:txBody>
      </p:sp>
      <p:sp>
        <p:nvSpPr>
          <p:cNvPr id="610" name="Google Shape;610;p39"/>
          <p:cNvSpPr txBox="1"/>
          <p:nvPr/>
        </p:nvSpPr>
        <p:spPr>
          <a:xfrm>
            <a:off x="1162050" y="4295775"/>
            <a:ext cx="443865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False Negative (Missed)</a:t>
            </a:r>
            <a:endParaRPr/>
          </a:p>
        </p:txBody>
      </p:sp>
      <p:sp>
        <p:nvSpPr>
          <p:cNvPr id="611" name="Google Shape;611;p39"/>
          <p:cNvSpPr txBox="1"/>
          <p:nvPr/>
        </p:nvSpPr>
        <p:spPr>
          <a:xfrm>
            <a:off x="6591300" y="3743325"/>
            <a:ext cx="4438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27AE60"/>
                </a:solidFill>
                <a:latin typeface="Barlow"/>
                <a:ea typeface="Barlow"/>
                <a:cs typeface="Barlow"/>
                <a:sym typeface="Barlow"/>
              </a:rPr>
              <a:t>127</a:t>
            </a:r>
            <a:endParaRPr/>
          </a:p>
        </p:txBody>
      </p:sp>
      <p:sp>
        <p:nvSpPr>
          <p:cNvPr id="612" name="Google Shape;612;p39"/>
          <p:cNvSpPr txBox="1"/>
          <p:nvPr/>
        </p:nvSpPr>
        <p:spPr>
          <a:xfrm>
            <a:off x="6591300" y="4295775"/>
            <a:ext cx="443865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True Positive (Caught)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17" name="Google Shape;617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18" name="Google Shape;618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2280774"/>
            <a:ext cx="5095875" cy="1647425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40"/>
          <p:cNvSpPr txBox="1"/>
          <p:nvPr/>
        </p:nvSpPr>
        <p:spPr>
          <a:xfrm>
            <a:off x="762000" y="519112"/>
            <a:ext cx="6150768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ERROR ANALYSIS: FALSE POSITIVES</a:t>
            </a:r>
            <a:endParaRPr/>
          </a:p>
        </p:txBody>
      </p:sp>
      <p:sp>
        <p:nvSpPr>
          <p:cNvPr id="620" name="Google Shape;620;p40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/2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7</a:t>
            </a:r>
            <a:endParaRPr/>
          </a:p>
        </p:txBody>
      </p:sp>
      <p:sp>
        <p:nvSpPr>
          <p:cNvPr id="621" name="Google Shape;621;p40"/>
          <p:cNvSpPr txBox="1"/>
          <p:nvPr/>
        </p:nvSpPr>
        <p:spPr>
          <a:xfrm>
            <a:off x="1047750" y="2614162"/>
            <a:ext cx="4750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"</a:t>
            </a:r>
            <a:r>
              <a:rPr b="1" lang="en-US" sz="1800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Specialized Care Center</a:t>
            </a: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" EFFECT</a:t>
            </a:r>
            <a:endParaRPr/>
          </a:p>
        </p:txBody>
      </p:sp>
      <p:sp>
        <p:nvSpPr>
          <p:cNvPr id="622" name="Google Shape;622;p40"/>
          <p:cNvSpPr txBox="1"/>
          <p:nvPr/>
        </p:nvSpPr>
        <p:spPr>
          <a:xfrm>
            <a:off x="1047750" y="2976112"/>
            <a:ext cx="45243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We flagged 120 legitimate providers. Many of them were large, high-volume hospitals whose scale made them look anomalous.</a:t>
            </a:r>
            <a:endParaRPr/>
          </a:p>
        </p:txBody>
      </p:sp>
      <p:sp>
        <p:nvSpPr>
          <p:cNvPr id="623" name="Google Shape;623;p40"/>
          <p:cNvSpPr txBox="1"/>
          <p:nvPr/>
        </p:nvSpPr>
        <p:spPr>
          <a:xfrm>
            <a:off x="6344950" y="2165500"/>
            <a:ext cx="535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WHY?</a:t>
            </a:r>
            <a:endParaRPr/>
          </a:p>
        </p:txBody>
      </p:sp>
      <p:sp>
        <p:nvSpPr>
          <p:cNvPr id="624" name="Google Shape;624;p40"/>
          <p:cNvSpPr txBox="1"/>
          <p:nvPr/>
        </p:nvSpPr>
        <p:spPr>
          <a:xfrm>
            <a:off x="6344913" y="3599500"/>
            <a:ext cx="5095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Fix: Normalize features by Bed Count.</a:t>
            </a:r>
            <a:endParaRPr/>
          </a:p>
        </p:txBody>
      </p:sp>
      <p:sp>
        <p:nvSpPr>
          <p:cNvPr id="625" name="Google Shape;625;p40"/>
          <p:cNvSpPr txBox="1"/>
          <p:nvPr/>
        </p:nvSpPr>
        <p:spPr>
          <a:xfrm>
            <a:off x="6287800" y="2536975"/>
            <a:ext cx="5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626" name="Google Shape;626;p40"/>
          <p:cNvSpPr txBox="1"/>
          <p:nvPr/>
        </p:nvSpPr>
        <p:spPr>
          <a:xfrm>
            <a:off x="6344950" y="2536975"/>
            <a:ext cx="5095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High-Volume, High-Complexity Facilities</a:t>
            </a:r>
            <a:endParaRPr/>
          </a:p>
        </p:txBody>
      </p:sp>
      <p:sp>
        <p:nvSpPr>
          <p:cNvPr id="627" name="Google Shape;627;p40"/>
          <p:cNvSpPr txBox="1"/>
          <p:nvPr/>
        </p:nvSpPr>
        <p:spPr>
          <a:xfrm>
            <a:off x="6287800" y="2937025"/>
            <a:ext cx="5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628" name="Google Shape;628;p40"/>
          <p:cNvSpPr txBox="1"/>
          <p:nvPr/>
        </p:nvSpPr>
        <p:spPr>
          <a:xfrm>
            <a:off x="6344950" y="2937025"/>
            <a:ext cx="50958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They look "anomalous" compared to a small clinic, but are legitimate.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2E364B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2DE"/>
        </a:solidFill>
      </p:bgPr>
    </p:bg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33" name="Google Shape;633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77000"/>
            <a:ext cx="109728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34" name="Google Shape;634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2257308"/>
            <a:ext cx="5095875" cy="205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35" name="Google Shape;635;p41"/>
          <p:cNvSpPr txBox="1"/>
          <p:nvPr/>
        </p:nvSpPr>
        <p:spPr>
          <a:xfrm>
            <a:off x="762000" y="519112"/>
            <a:ext cx="6280785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ERROR ANALYSIS: FALSE NEGATIVES</a:t>
            </a:r>
            <a:endParaRPr/>
          </a:p>
        </p:txBody>
      </p:sp>
      <p:sp>
        <p:nvSpPr>
          <p:cNvPr id="636" name="Google Shape;636;p41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/2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8</a:t>
            </a:r>
            <a:endParaRPr/>
          </a:p>
        </p:txBody>
      </p:sp>
      <p:sp>
        <p:nvSpPr>
          <p:cNvPr id="637" name="Google Shape;637;p41"/>
          <p:cNvSpPr txBox="1"/>
          <p:nvPr/>
        </p:nvSpPr>
        <p:spPr>
          <a:xfrm>
            <a:off x="1047750" y="2590700"/>
            <a:ext cx="4750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“UNDER-THRESHOLD FRAUDSTER” EFFECT</a:t>
            </a:r>
            <a:endParaRPr/>
          </a:p>
        </p:txBody>
      </p:sp>
      <p:sp>
        <p:nvSpPr>
          <p:cNvPr id="638" name="Google Shape;638;p41"/>
          <p:cNvSpPr txBox="1"/>
          <p:nvPr/>
        </p:nvSpPr>
        <p:spPr>
          <a:xfrm>
            <a:off x="1047750" y="2952649"/>
            <a:ext cx="45243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We missed 25 fraudulent providers.</a:t>
            </a:r>
            <a:endParaRPr sz="1350">
              <a:solidFill>
                <a:srgbClr val="2E364B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These providers showed average billing amounts and normal durations, but hidden patterns (like very high outpatient claims) reveal deliberate masking</a:t>
            </a:r>
            <a:r>
              <a:rPr lang="en-US" sz="1100">
                <a:solidFill>
                  <a:schemeClr val="dk1"/>
                </a:solidFill>
              </a:rPr>
              <a:t>.</a:t>
            </a:r>
            <a:endParaRPr sz="1350">
              <a:solidFill>
                <a:srgbClr val="2E364B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639" name="Google Shape;639;p41"/>
          <p:cNvSpPr txBox="1"/>
          <p:nvPr/>
        </p:nvSpPr>
        <p:spPr>
          <a:xfrm>
            <a:off x="6334125" y="2138263"/>
            <a:ext cx="535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364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WHY?</a:t>
            </a:r>
            <a:endParaRPr/>
          </a:p>
        </p:txBody>
      </p:sp>
      <p:sp>
        <p:nvSpPr>
          <p:cNvPr id="640" name="Google Shape;640;p41"/>
          <p:cNvSpPr txBox="1"/>
          <p:nvPr/>
        </p:nvSpPr>
        <p:spPr>
          <a:xfrm>
            <a:off x="6334088" y="4043263"/>
            <a:ext cx="5095800" cy="12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Fix: </a:t>
            </a:r>
            <a:r>
              <a:rPr b="1" lang="en-US" sz="1100">
                <a:solidFill>
                  <a:schemeClr val="dk1"/>
                </a:solidFill>
              </a:rPr>
              <a:t>Secondary screening for providers with: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>
                <a:solidFill>
                  <a:schemeClr val="dk1"/>
                </a:solidFill>
              </a:rPr>
              <a:t>High outpatient-to-inpatient ratios</a:t>
            </a:r>
            <a:br>
              <a:rPr b="1" lang="en-US" sz="1100">
                <a:solidFill>
                  <a:schemeClr val="dk1"/>
                </a:solidFill>
              </a:rPr>
            </a:br>
            <a:endParaRPr b="1" sz="1100">
              <a:solidFill>
                <a:schemeClr val="dk1"/>
              </a:solidFill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>
                <a:solidFill>
                  <a:schemeClr val="dk1"/>
                </a:solidFill>
              </a:rPr>
              <a:t>Claims that sit just below alert thresholds</a:t>
            </a:r>
            <a:endParaRPr sz="11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50">
              <a:solidFill>
                <a:srgbClr val="2E364B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641" name="Google Shape;641;p41"/>
          <p:cNvSpPr txBox="1"/>
          <p:nvPr/>
        </p:nvSpPr>
        <p:spPr>
          <a:xfrm>
            <a:off x="6276975" y="2509738"/>
            <a:ext cx="5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642" name="Google Shape;642;p41"/>
          <p:cNvSpPr txBox="1"/>
          <p:nvPr/>
        </p:nvSpPr>
        <p:spPr>
          <a:xfrm>
            <a:off x="6334125" y="2509738"/>
            <a:ext cx="50958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They blend in with legitimate providers by keeping averages normal while manipulating specific categories (e.g., outpatient claims)</a:t>
            </a:r>
            <a:endParaRPr/>
          </a:p>
        </p:txBody>
      </p:sp>
      <p:sp>
        <p:nvSpPr>
          <p:cNvPr id="643" name="Google Shape;643;p41"/>
          <p:cNvSpPr txBox="1"/>
          <p:nvPr/>
        </p:nvSpPr>
        <p:spPr>
          <a:xfrm>
            <a:off x="6276975" y="3155425"/>
            <a:ext cx="5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•</a:t>
            </a:r>
            <a:endParaRPr/>
          </a:p>
        </p:txBody>
      </p:sp>
      <p:sp>
        <p:nvSpPr>
          <p:cNvPr id="644" name="Google Shape;644;p41"/>
          <p:cNvSpPr txBox="1"/>
          <p:nvPr/>
        </p:nvSpPr>
        <p:spPr>
          <a:xfrm>
            <a:off x="6334100" y="3145288"/>
            <a:ext cx="50958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Fraudsters intentionally stay just below detection thresholds</a:t>
            </a:r>
            <a:endParaRPr sz="1350">
              <a:solidFill>
                <a:srgbClr val="2E364B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(“moderate but suspicious” behavior that avoids extreme outliers)</a:t>
            </a:r>
            <a:endParaRPr sz="1350">
              <a:solidFill>
                <a:srgbClr val="2E364B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3875"/>
        </a:solidFill>
      </p:bgPr>
    </p:bg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49" name="Google Shape;649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1619250"/>
            <a:ext cx="336545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50" name="Google Shape;650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13200" y="1619250"/>
            <a:ext cx="336545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51" name="Google Shape;651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64400" y="1619250"/>
            <a:ext cx="3365599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2" name="Google Shape;652;p42"/>
          <p:cNvSpPr txBox="1"/>
          <p:nvPr/>
        </p:nvSpPr>
        <p:spPr>
          <a:xfrm>
            <a:off x="762000" y="519112"/>
            <a:ext cx="2390298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ROI ANALYSIS</a:t>
            </a:r>
            <a:endParaRPr/>
          </a:p>
        </p:txBody>
      </p:sp>
      <p:sp>
        <p:nvSpPr>
          <p:cNvPr id="653" name="Google Shape;653;p42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/2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9</a:t>
            </a:r>
            <a:endParaRPr/>
          </a:p>
        </p:txBody>
      </p:sp>
      <p:pic>
        <p:nvPicPr>
          <p:cNvPr descr="image.png" id="654" name="Google Shape;654;p4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254150" y="19621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42"/>
          <p:cNvSpPr txBox="1"/>
          <p:nvPr/>
        </p:nvSpPr>
        <p:spPr>
          <a:xfrm>
            <a:off x="977901" y="2486025"/>
            <a:ext cx="2933647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COST AVOIDANCE</a:t>
            </a:r>
            <a:endParaRPr/>
          </a:p>
        </p:txBody>
      </p:sp>
      <p:sp>
        <p:nvSpPr>
          <p:cNvPr id="656" name="Google Shape;656;p42"/>
          <p:cNvSpPr txBox="1"/>
          <p:nvPr/>
        </p:nvSpPr>
        <p:spPr>
          <a:xfrm>
            <a:off x="1047750" y="2847975"/>
            <a:ext cx="27939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Detecting </a:t>
            </a:r>
            <a:r>
              <a:rPr lang="en-US" sz="1350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84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% of fraud in the test set = Potential savings of millions in improper payments.</a:t>
            </a:r>
            <a:endParaRPr/>
          </a:p>
        </p:txBody>
      </p:sp>
      <p:pic>
        <p:nvPicPr>
          <p:cNvPr descr="image.png" id="657" name="Google Shape;657;p4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57726" y="1962150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42"/>
          <p:cNvSpPr txBox="1"/>
          <p:nvPr/>
        </p:nvSpPr>
        <p:spPr>
          <a:xfrm>
            <a:off x="4629101" y="2486025"/>
            <a:ext cx="2933647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EFFICIENCY LIFT</a:t>
            </a:r>
            <a:endParaRPr/>
          </a:p>
        </p:txBody>
      </p:sp>
      <p:sp>
        <p:nvSpPr>
          <p:cNvPr id="659" name="Google Shape;659;p42"/>
          <p:cNvSpPr txBox="1"/>
          <p:nvPr/>
        </p:nvSpPr>
        <p:spPr>
          <a:xfrm>
            <a:off x="4698950" y="2847975"/>
            <a:ext cx="2793950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84% reduction</a:t>
            </a: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 in manual review volume. Investigators focus only on high-probability targets.</a:t>
            </a:r>
            <a:endParaRPr/>
          </a:p>
        </p:txBody>
      </p:sp>
      <p:pic>
        <p:nvPicPr>
          <p:cNvPr descr="image.png" id="660" name="Google Shape;660;p4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80512" y="1962150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1" name="Google Shape;661;p42"/>
          <p:cNvSpPr txBox="1"/>
          <p:nvPr/>
        </p:nvSpPr>
        <p:spPr>
          <a:xfrm>
            <a:off x="8280298" y="2486025"/>
            <a:ext cx="2933804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387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RISK MITIGATION</a:t>
            </a:r>
            <a:endParaRPr/>
          </a:p>
        </p:txBody>
      </p:sp>
      <p:sp>
        <p:nvSpPr>
          <p:cNvPr id="662" name="Google Shape;662;p42"/>
          <p:cNvSpPr txBox="1"/>
          <p:nvPr/>
        </p:nvSpPr>
        <p:spPr>
          <a:xfrm>
            <a:off x="8350150" y="2847975"/>
            <a:ext cx="2794099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E364B"/>
                </a:solidFill>
                <a:latin typeface="Barlow"/>
                <a:ea typeface="Barlow"/>
                <a:cs typeface="Barlow"/>
                <a:sym typeface="Barlow"/>
              </a:rPr>
              <a:t>Moving from "Pay and Chase" to Pre-payment flags reduces the recovery burden.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3875"/>
        </a:solidFill>
      </p:bgPr>
    </p:bg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43"/>
          <p:cNvSpPr txBox="1"/>
          <p:nvPr/>
        </p:nvSpPr>
        <p:spPr>
          <a:xfrm>
            <a:off x="762000" y="519100"/>
            <a:ext cx="28467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5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COST </a:t>
            </a:r>
            <a:r>
              <a:rPr b="1" i="0" lang="en-US" sz="3150" u="none" cap="none" strike="noStrik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ANALYSIS</a:t>
            </a:r>
            <a:endParaRPr/>
          </a:p>
        </p:txBody>
      </p:sp>
      <p:sp>
        <p:nvSpPr>
          <p:cNvPr id="668" name="Google Shape;668;p43"/>
          <p:cNvSpPr txBox="1"/>
          <p:nvPr/>
        </p:nvSpPr>
        <p:spPr>
          <a:xfrm>
            <a:off x="10772775" y="476250"/>
            <a:ext cx="657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50" u="none" cap="none" strike="noStrike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/</a:t>
            </a:r>
            <a:r>
              <a:rPr lang="en-US" sz="3750">
                <a:solidFill>
                  <a:srgbClr val="6D98D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30</a:t>
            </a:r>
            <a:endParaRPr/>
          </a:p>
        </p:txBody>
      </p:sp>
      <p:graphicFrame>
        <p:nvGraphicFramePr>
          <p:cNvPr id="669" name="Google Shape;669;p43"/>
          <p:cNvGraphicFramePr/>
          <p:nvPr/>
        </p:nvGraphicFramePr>
        <p:xfrm>
          <a:off x="696988" y="21171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{009C514A-5536-4AEA-9154-31F9F0F49BC7}</a:tableStyleId>
              </a:tblPr>
              <a:tblGrid>
                <a:gridCol w="1994625"/>
                <a:gridCol w="1049125"/>
                <a:gridCol w="1482075"/>
                <a:gridCol w="1959375"/>
                <a:gridCol w="2024275"/>
                <a:gridCol w="2158575"/>
              </a:tblGrid>
              <a:tr h="557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Algorithm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Total Cost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Cost Per Case</a:t>
                      </a:r>
                      <a:endParaRPr sz="1350">
                        <a:solidFill>
                          <a:srgbClr val="FFFFFF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Fraud</a:t>
                      </a:r>
                      <a:r>
                        <a:rPr lang="en-US" sz="1350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 Losses Prevented</a:t>
                      </a:r>
                      <a:endParaRPr b="1" i="0" sz="1350" u="none" cap="none" strike="noStrike">
                        <a:solidFill>
                          <a:srgbClr val="FFFFFF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Investigation Cost</a:t>
                      </a:r>
                      <a:endParaRPr sz="1350">
                        <a:solidFill>
                          <a:srgbClr val="FFFFFF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FFFFFF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Net Savings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b="1"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Support Vector Machine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200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$979,000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$603.20</a:t>
                      </a:r>
                      <a:endParaRPr sz="1200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$6,900,000</a:t>
                      </a:r>
                      <a:endParaRPr b="0" i="0" sz="1200" u="none" cap="none" strike="noStrike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$348,000</a:t>
                      </a:r>
                      <a:endParaRPr sz="1200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$5,852,000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Gradient Boosting</a:t>
                      </a:r>
                      <a:endParaRPr b="1" sz="1200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$1,433,500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$883.24</a:t>
                      </a:r>
                      <a:endParaRPr sz="1200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$6,350,000</a:t>
                      </a:r>
                      <a:endParaRPr b="0" i="0" sz="1200" u="none" cap="none" strike="noStrike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$247,000</a:t>
                      </a:r>
                      <a:endParaRPr sz="1200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$4,853,000</a:t>
                      </a:r>
                      <a:endParaRPr sz="1200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AdaBoost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$2,485,500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$1,531.42</a:t>
                      </a:r>
                      <a:endParaRPr sz="1200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</a:t>
                      </a: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5,250,000</a:t>
                      </a:r>
                      <a:endParaRPr sz="1200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$188,000</a:t>
                      </a:r>
                      <a:endParaRPr sz="1200">
                        <a:solidFill>
                          <a:srgbClr val="2E364B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200">
                          <a:solidFill>
                            <a:srgbClr val="2E364B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$2,712,000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70" name="Google Shape;670;p43"/>
          <p:cNvSpPr/>
          <p:nvPr/>
        </p:nvSpPr>
        <p:spPr>
          <a:xfrm>
            <a:off x="696988" y="3155787"/>
            <a:ext cx="24525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43"/>
          <p:cNvSpPr/>
          <p:nvPr/>
        </p:nvSpPr>
        <p:spPr>
          <a:xfrm>
            <a:off x="3149377" y="3155787"/>
            <a:ext cx="37032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43"/>
          <p:cNvSpPr/>
          <p:nvPr/>
        </p:nvSpPr>
        <p:spPr>
          <a:xfrm>
            <a:off x="6852519" y="3155787"/>
            <a:ext cx="45126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43"/>
          <p:cNvSpPr/>
          <p:nvPr/>
        </p:nvSpPr>
        <p:spPr>
          <a:xfrm>
            <a:off x="696988" y="3679662"/>
            <a:ext cx="24525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43"/>
          <p:cNvSpPr/>
          <p:nvPr/>
        </p:nvSpPr>
        <p:spPr>
          <a:xfrm>
            <a:off x="3149377" y="3679662"/>
            <a:ext cx="37032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43"/>
          <p:cNvSpPr/>
          <p:nvPr/>
        </p:nvSpPr>
        <p:spPr>
          <a:xfrm>
            <a:off x="6852519" y="3679662"/>
            <a:ext cx="45126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43"/>
          <p:cNvSpPr/>
          <p:nvPr/>
        </p:nvSpPr>
        <p:spPr>
          <a:xfrm>
            <a:off x="696988" y="4203537"/>
            <a:ext cx="24525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43"/>
          <p:cNvSpPr/>
          <p:nvPr/>
        </p:nvSpPr>
        <p:spPr>
          <a:xfrm>
            <a:off x="3149377" y="4203537"/>
            <a:ext cx="37032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43"/>
          <p:cNvSpPr/>
          <p:nvPr/>
        </p:nvSpPr>
        <p:spPr>
          <a:xfrm>
            <a:off x="6852519" y="4203537"/>
            <a:ext cx="4512600" cy="9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83" name="Google Shape;683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727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84" name="Google Shape;684;p44"/>
          <p:cNvSpPr txBox="1"/>
          <p:nvPr/>
        </p:nvSpPr>
        <p:spPr>
          <a:xfrm>
            <a:off x="646509" y="1957387"/>
            <a:ext cx="4850606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THANK YOU</a:t>
            </a:r>
            <a:endParaRPr/>
          </a:p>
        </p:txBody>
      </p:sp>
      <p:sp>
        <p:nvSpPr>
          <p:cNvPr id="685" name="Google Shape;685;p44"/>
          <p:cNvSpPr txBox="1"/>
          <p:nvPr/>
        </p:nvSpPr>
        <p:spPr>
          <a:xfrm>
            <a:off x="2181701" y="3195637"/>
            <a:ext cx="1780222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QUESTIONS?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