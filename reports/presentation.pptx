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embeddedFontLst>
    <p:embeddedFont>
      <p:font typeface="Barlow" pitchFamily="2" charset="0"/>
      <p:regular r:id="rId31"/>
      <p:bold r:id="rId32"/>
      <p:italic r:id="rId33"/>
      <p:boldItalic r:id="rId34"/>
    </p:embeddedFont>
    <p:embeddedFont>
      <p:font typeface="Roboto Condensed" panose="02000000000000000000" pitchFamily="2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BBA4DBE-9566-4F57-AD23-64054DF4D6E3}">
  <a:tblStyle styleId="{6BBA4DBE-9566-4F57-AD23-64054DF4D6E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font" Target="fonts/font4.fntdata" /><Relationship Id="rId42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font" Target="fonts/font3.fntdata" /><Relationship Id="rId38" Type="http://schemas.openxmlformats.org/officeDocument/2006/relationships/font" Target="fonts/font8.fntdata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font" Target="fonts/font2.fntdata" /><Relationship Id="rId37" Type="http://schemas.openxmlformats.org/officeDocument/2006/relationships/font" Target="fonts/font7.fntdata" /><Relationship Id="rId40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font" Target="fonts/font6.fntdata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font" Target="fonts/font1.fntdata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notesMaster" Target="notesMasters/notesMaster1.xml" /><Relationship Id="rId35" Type="http://schemas.openxmlformats.org/officeDocument/2006/relationships/font" Target="fonts/font5.fntdata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ad3cbc0e5c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g3ad3cbc0e5c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7" Type="http://schemas.openxmlformats.org/officeDocument/2006/relationships/image" Target="../media/image7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6.png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7" Type="http://schemas.openxmlformats.org/officeDocument/2006/relationships/image" Target="../media/image11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0.png" /><Relationship Id="rId5" Type="http://schemas.openxmlformats.org/officeDocument/2006/relationships/image" Target="../media/image9.png" /><Relationship Id="rId4" Type="http://schemas.openxmlformats.org/officeDocument/2006/relationships/image" Target="../media/image8.png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 /><Relationship Id="rId3" Type="http://schemas.openxmlformats.org/officeDocument/2006/relationships/image" Target="../media/image3.png" /><Relationship Id="rId7" Type="http://schemas.openxmlformats.org/officeDocument/2006/relationships/image" Target="../media/image15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4.png" /><Relationship Id="rId5" Type="http://schemas.openxmlformats.org/officeDocument/2006/relationships/image" Target="../media/image13.png" /><Relationship Id="rId4" Type="http://schemas.openxmlformats.org/officeDocument/2006/relationships/image" Target="../media/image12.png" /><Relationship Id="rId9" Type="http://schemas.openxmlformats.org/officeDocument/2006/relationships/image" Target="../media/image17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0.png" /><Relationship Id="rId5" Type="http://schemas.openxmlformats.org/officeDocument/2006/relationships/image" Target="../media/image19.png" /><Relationship Id="rId4" Type="http://schemas.openxmlformats.org/officeDocument/2006/relationships/image" Target="../media/image18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22.png" /><Relationship Id="rId4" Type="http://schemas.openxmlformats.org/officeDocument/2006/relationships/image" Target="../media/image3.png" 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 /><Relationship Id="rId3" Type="http://schemas.openxmlformats.org/officeDocument/2006/relationships/image" Target="../media/image3.png" /><Relationship Id="rId7" Type="http://schemas.openxmlformats.org/officeDocument/2006/relationships/image" Target="../media/image26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5.png" /><Relationship Id="rId5" Type="http://schemas.openxmlformats.org/officeDocument/2006/relationships/image" Target="../media/image24.png" /><Relationship Id="rId4" Type="http://schemas.openxmlformats.org/officeDocument/2006/relationships/image" Target="../media/image23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29.png" /><Relationship Id="rId4" Type="http://schemas.openxmlformats.org/officeDocument/2006/relationships/image" Target="../media/image28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31.png" /><Relationship Id="rId4" Type="http://schemas.openxmlformats.org/officeDocument/2006/relationships/image" Target="../media/image30.pn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34.png" /><Relationship Id="rId5" Type="http://schemas.openxmlformats.org/officeDocument/2006/relationships/image" Target="../media/image33.png" /><Relationship Id="rId4" Type="http://schemas.openxmlformats.org/officeDocument/2006/relationships/image" Target="../media/image32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pn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36.png" /><Relationship Id="rId4" Type="http://schemas.openxmlformats.org/officeDocument/2006/relationships/image" Target="../media/image3.png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7.png" 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 /><Relationship Id="rId3" Type="http://schemas.openxmlformats.org/officeDocument/2006/relationships/image" Target="../media/image3.png" /><Relationship Id="rId7" Type="http://schemas.openxmlformats.org/officeDocument/2006/relationships/image" Target="../media/image41.pn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0.png" /><Relationship Id="rId5" Type="http://schemas.openxmlformats.org/officeDocument/2006/relationships/image" Target="../media/image39.png" /><Relationship Id="rId4" Type="http://schemas.openxmlformats.org/officeDocument/2006/relationships/image" Target="../media/image38.png" /><Relationship Id="rId9" Type="http://schemas.openxmlformats.org/officeDocument/2006/relationships/image" Target="../media/image43.png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 /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png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45.png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8.png" /><Relationship Id="rId5" Type="http://schemas.openxmlformats.org/officeDocument/2006/relationships/image" Target="../media/image47.png" /><Relationship Id="rId4" Type="http://schemas.openxmlformats.org/officeDocument/2006/relationships/image" Target="../media/image46.png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1.xml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50.png" /><Relationship Id="rId4" Type="http://schemas.openxmlformats.org/officeDocument/2006/relationships/image" Target="../media/image49.png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 /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53.png" /><Relationship Id="rId4" Type="http://schemas.openxmlformats.org/officeDocument/2006/relationships/image" Target="../media/image52.png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23.xml" /><Relationship Id="rId1" Type="http://schemas.openxmlformats.org/officeDocument/2006/relationships/slideLayout" Target="../slideLayouts/slideLayout1.xml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24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56.png" /><Relationship Id="rId5" Type="http://schemas.openxmlformats.org/officeDocument/2006/relationships/image" Target="../media/image55.png" /><Relationship Id="rId4" Type="http://schemas.openxmlformats.org/officeDocument/2006/relationships/image" Target="../media/image54.png" 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25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57.png" 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26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58.png" 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 /><Relationship Id="rId3" Type="http://schemas.openxmlformats.org/officeDocument/2006/relationships/image" Target="../media/image59.png" /><Relationship Id="rId7" Type="http://schemas.openxmlformats.org/officeDocument/2006/relationships/image" Target="../media/image63.png" /><Relationship Id="rId2" Type="http://schemas.openxmlformats.org/officeDocument/2006/relationships/notesSlide" Target="../notesSlides/notesSlide27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62.png" /><Relationship Id="rId5" Type="http://schemas.openxmlformats.org/officeDocument/2006/relationships/image" Target="../media/image61.png" /><Relationship Id="rId4" Type="http://schemas.openxmlformats.org/officeDocument/2006/relationships/image" Target="../media/image60.png" 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28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762000" y="476250"/>
            <a:ext cx="952500" cy="76200"/>
          </a:xfrm>
          <a:prstGeom prst="rect">
            <a:avLst/>
          </a:prstGeom>
          <a:solidFill>
            <a:srgbClr val="6D98D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66668" y="412813"/>
            <a:ext cx="5298300" cy="41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HEALTHCARE PROVIDER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FRAUD DETECTION SYSTEM</a:t>
            </a:r>
            <a:endParaRPr/>
          </a:p>
        </p:txBody>
      </p:sp>
      <p:pic>
        <p:nvPicPr>
          <p:cNvPr id="87" name="Google Shape;87;p13"/>
          <p:cNvPicPr preferRelativeResize="0"/>
          <p:nvPr/>
        </p:nvPicPr>
        <p:blipFill rotWithShape="1">
          <a:blip r:embed="rId4">
            <a:alphaModFix/>
          </a:blip>
          <a:srcRect t="34844"/>
          <a:stretch/>
        </p:blipFill>
        <p:spPr>
          <a:xfrm>
            <a:off x="4852058" y="1701732"/>
            <a:ext cx="6911318" cy="45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2DE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6477000"/>
            <a:ext cx="10972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428750"/>
            <a:ext cx="2524125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76625" y="1428750"/>
            <a:ext cx="2524125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0" y="1428750"/>
            <a:ext cx="2524125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05875" y="1428750"/>
            <a:ext cx="2524125" cy="49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62000" y="519112"/>
            <a:ext cx="5705475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PRESENTATION ROADMAP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772775" y="476250"/>
            <a:ext cx="6572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6D98D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/01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52500" y="1666875"/>
            <a:ext cx="225028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1. BUSINESS CONTEXT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3667125" y="1666875"/>
            <a:ext cx="2250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2. DATA ENGINEERING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381750" y="1666875"/>
            <a:ext cx="225028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3. MODELING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096375" y="1666875"/>
            <a:ext cx="225028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4. IMPACT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038225" y="203835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095375" y="2038350"/>
            <a:ext cx="2000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The $68B Problem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038225" y="229552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095375" y="2295525"/>
            <a:ext cx="2000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Fraud Types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038225" y="255270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095375" y="2552700"/>
            <a:ext cx="2000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Objective Function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3752850" y="203835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3810000" y="2038350"/>
            <a:ext cx="2000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Sources &amp; Quality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3752850" y="229552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3810000" y="2295525"/>
            <a:ext cx="2000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Deep Cleaning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3752850" y="255270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3810000" y="2552700"/>
            <a:ext cx="2000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EDA Insights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3752850" y="280987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3810000" y="2809875"/>
            <a:ext cx="2000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Advanced Feature Eng.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6467475" y="203835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6524625" y="2038350"/>
            <a:ext cx="2000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Handling Imbalance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6467475" y="229552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6524625" y="2295525"/>
            <a:ext cx="2000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Algorithm Selection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6467475" y="255270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6524625" y="2552700"/>
            <a:ext cx="2000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Training Efficiency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6467475" y="280987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6524625" y="2809875"/>
            <a:ext cx="2000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Model Comparison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9182100" y="203835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9239250" y="2038350"/>
            <a:ext cx="2000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Error Analysis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9182100" y="229552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9239250" y="2295525"/>
            <a:ext cx="2000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Financial ROI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9182100" y="255270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9239250" y="2552700"/>
            <a:ext cx="2000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Operational Workflow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9182100" y="280987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9239250" y="2809875"/>
            <a:ext cx="2000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Future Roadmap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2DE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6477000"/>
            <a:ext cx="109728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5"/>
          <p:cNvSpPr txBox="1"/>
          <p:nvPr/>
        </p:nvSpPr>
        <p:spPr>
          <a:xfrm>
            <a:off x="762000" y="519112"/>
            <a:ext cx="430053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BUSINESS CONTEXT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10772775" y="476250"/>
            <a:ext cx="6572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6D98D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/02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762000" y="2843212"/>
            <a:ext cx="5350668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0392B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CURRENT STATE: "PAY AND CHASE"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762000" y="3214687"/>
            <a:ext cx="50958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CMS typically pays claims first and investigates later. This reactive model is inefficient.</a:t>
            </a:r>
            <a:endParaRPr/>
          </a:p>
        </p:txBody>
      </p:sp>
      <p:pic>
        <p:nvPicPr>
          <p:cNvPr id="142" name="Google Shape;14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20537" y="776275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5"/>
          <p:cNvSpPr txBox="1"/>
          <p:nvPr/>
        </p:nvSpPr>
        <p:spPr>
          <a:xfrm>
            <a:off x="7987968" y="1144525"/>
            <a:ext cx="23103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GOAL: PROACTIVE DETECTION</a:t>
            </a:r>
            <a:endParaRPr/>
          </a:p>
        </p:txBody>
      </p:sp>
      <p:pic>
        <p:nvPicPr>
          <p:cNvPr id="144" name="Google Shape;14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052887"/>
            <a:ext cx="4762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624387"/>
            <a:ext cx="47625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5"/>
          <p:cNvSpPr txBox="1"/>
          <p:nvPr/>
        </p:nvSpPr>
        <p:spPr>
          <a:xfrm>
            <a:off x="1238250" y="4014787"/>
            <a:ext cx="10668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$68 Billion/Year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2084788" y="4167300"/>
            <a:ext cx="27051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Estimated lost due to fraud, waste, and abuse.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1238250" y="4586287"/>
            <a:ext cx="14763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Resource Constraints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1238250" y="4767262"/>
            <a:ext cx="31623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Manual investigators can only review &lt;1% of providers.</a:t>
            </a:r>
            <a:endParaRPr/>
          </a:p>
        </p:txBody>
      </p:sp>
      <p:pic>
        <p:nvPicPr>
          <p:cNvPr id="150" name="Google Shape;150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57875" y="2009000"/>
            <a:ext cx="5726026" cy="381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2DE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6477000"/>
            <a:ext cx="10972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619250"/>
            <a:ext cx="3365450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1619250"/>
            <a:ext cx="3365450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1619250"/>
            <a:ext cx="3365599" cy="28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 txBox="1"/>
          <p:nvPr/>
        </p:nvSpPr>
        <p:spPr>
          <a:xfrm>
            <a:off x="762000" y="519112"/>
            <a:ext cx="302037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 INVENTORY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10772775" y="476250"/>
            <a:ext cx="6572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6D98D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/03</a:t>
            </a:r>
            <a:endParaRPr/>
          </a:p>
        </p:txBody>
      </p:sp>
      <p:pic>
        <p:nvPicPr>
          <p:cNvPr id="161" name="Google Shape;16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47750" y="196215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/>
          <p:nvPr/>
        </p:nvSpPr>
        <p:spPr>
          <a:xfrm>
            <a:off x="1047750" y="2486025"/>
            <a:ext cx="293364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BENEFICIARY DATA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1047750" y="2847975"/>
            <a:ext cx="27939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138,556 Records</a:t>
            </a:r>
            <a:endParaRPr/>
          </a:p>
        </p:txBody>
      </p:sp>
      <p:pic>
        <p:nvPicPr>
          <p:cNvPr id="164" name="Google Shape;164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8950" y="196215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6"/>
          <p:cNvSpPr txBox="1"/>
          <p:nvPr/>
        </p:nvSpPr>
        <p:spPr>
          <a:xfrm>
            <a:off x="4698950" y="2486025"/>
            <a:ext cx="293364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INPATIENT CLAIMS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4698950" y="2847975"/>
            <a:ext cx="27939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40,474 Records</a:t>
            </a:r>
            <a:endParaRPr/>
          </a:p>
        </p:txBody>
      </p:sp>
      <p:pic>
        <p:nvPicPr>
          <p:cNvPr id="167" name="Google Shape;167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0150" y="1962150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6"/>
          <p:cNvSpPr txBox="1"/>
          <p:nvPr/>
        </p:nvSpPr>
        <p:spPr>
          <a:xfrm>
            <a:off x="8350150" y="2486025"/>
            <a:ext cx="2933804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OUTPATIENT CLAIMS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8350150" y="2847975"/>
            <a:ext cx="279409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517,737 Records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990600" y="320040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1047750" y="3200400"/>
            <a:ext cx="27939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Demographics (Age, Race, County)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990600" y="345757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1047750" y="3457575"/>
            <a:ext cx="27939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Chronic Conditions (11 flags)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990600" y="371475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1047750" y="3714750"/>
            <a:ext cx="27939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Cost (Deductibles paid)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4641800" y="320040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4698950" y="3200400"/>
            <a:ext cx="27939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Admission/Discharge Dates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4641800" y="345757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4698950" y="3457575"/>
            <a:ext cx="27939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Diagnosis Codes (ICD-9)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4641800" y="371475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4698950" y="3714750"/>
            <a:ext cx="27939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DRG Codes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4641800" y="397192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4698950" y="3971925"/>
            <a:ext cx="27939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High Reimbursement Amounts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8293000" y="320040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8350150" y="3200400"/>
            <a:ext cx="279409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Procedure Codes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8293000" y="345757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8350150" y="3457575"/>
            <a:ext cx="279409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Visiting Physicians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8293000" y="371475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8350150" y="3714750"/>
            <a:ext cx="279409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High Volume / Low Cost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2DE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6477000"/>
            <a:ext cx="10972800" cy="190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5" name="Google Shape;195;p17"/>
          <p:cNvGraphicFramePr/>
          <p:nvPr/>
        </p:nvGraphicFramePr>
        <p:xfrm>
          <a:off x="762000" y="1619250"/>
          <a:ext cx="10668000" cy="3257500"/>
        </p:xfrm>
        <a:graphic>
          <a:graphicData uri="http://schemas.openxmlformats.org/drawingml/2006/table">
            <a:tbl>
              <a:tblPr firstRow="1" bandRow="1">
                <a:noFill/>
                <a:tableStyleId>{6BBA4DBE-9566-4F57-AD23-64054DF4D6E3}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Feature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387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Issue Detected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387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Remediation Strategy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38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Deductibles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High missingness in Outpatient data.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Conditional Imputation:</a:t>
                      </a: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Inpatient defaults to $1,068 (Medicare standard). Outpatient defaults to $0.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Date Logic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32 records where `AdmissionDt` &gt; `DischargeDt`.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Row Removal:</a:t>
                      </a: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These illogical records represented &lt;0.01% of data and were dropped to preserve feature integrity.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Categorical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`RenalDiseaseIndicator` coded as 'Y'/'0'.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Binarization:</a:t>
                      </a: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Converted to 1/0 boolean flag for model compatibility.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Gender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Coded as 1/2.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Standardization:</a:t>
                      </a: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 Mapped to 0/1 logic for consistency with other binary flags.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6" name="Google Shape;196;p17"/>
          <p:cNvSpPr txBox="1"/>
          <p:nvPr/>
        </p:nvSpPr>
        <p:spPr>
          <a:xfrm>
            <a:off x="762000" y="519112"/>
            <a:ext cx="3690461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 QUALITY AUDIT</a:t>
            </a:r>
            <a:endParaRPr/>
          </a:p>
        </p:txBody>
      </p:sp>
      <p:sp>
        <p:nvSpPr>
          <p:cNvPr id="197" name="Google Shape;197;p17"/>
          <p:cNvSpPr txBox="1"/>
          <p:nvPr/>
        </p:nvSpPr>
        <p:spPr>
          <a:xfrm>
            <a:off x="10772775" y="476250"/>
            <a:ext cx="6572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6D98D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/04</a:t>
            </a:r>
            <a:endParaRPr/>
          </a:p>
        </p:txBody>
      </p:sp>
      <p:sp>
        <p:nvSpPr>
          <p:cNvPr id="198" name="Google Shape;198;p17"/>
          <p:cNvSpPr/>
          <p:nvPr/>
        </p:nvSpPr>
        <p:spPr>
          <a:xfrm>
            <a:off x="762000" y="2843212"/>
            <a:ext cx="26670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/>
          <p:cNvSpPr/>
          <p:nvPr/>
        </p:nvSpPr>
        <p:spPr>
          <a:xfrm>
            <a:off x="3429000" y="2843212"/>
            <a:ext cx="26670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/>
          <p:nvPr/>
        </p:nvSpPr>
        <p:spPr>
          <a:xfrm>
            <a:off x="6096000" y="2843212"/>
            <a:ext cx="53340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/>
          <p:nvPr/>
        </p:nvSpPr>
        <p:spPr>
          <a:xfrm>
            <a:off x="762000" y="3595687"/>
            <a:ext cx="26670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"/>
          <p:cNvSpPr/>
          <p:nvPr/>
        </p:nvSpPr>
        <p:spPr>
          <a:xfrm>
            <a:off x="3429000" y="3595687"/>
            <a:ext cx="26670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7"/>
          <p:cNvSpPr/>
          <p:nvPr/>
        </p:nvSpPr>
        <p:spPr>
          <a:xfrm>
            <a:off x="6096000" y="3595687"/>
            <a:ext cx="53340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762000" y="4348162"/>
            <a:ext cx="26670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3429000" y="4348162"/>
            <a:ext cx="26670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/>
          <p:nvPr/>
        </p:nvSpPr>
        <p:spPr>
          <a:xfrm>
            <a:off x="6096000" y="4348162"/>
            <a:ext cx="533400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2DE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6477000"/>
            <a:ext cx="10972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143250"/>
            <a:ext cx="509587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819525"/>
            <a:ext cx="509587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4495800"/>
            <a:ext cx="5095875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8"/>
          <p:cNvSpPr txBox="1"/>
          <p:nvPr/>
        </p:nvSpPr>
        <p:spPr>
          <a:xfrm>
            <a:off x="762000" y="519112"/>
            <a:ext cx="5780722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EDA: GEOGRAPHIC DISTRIBUTION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10772775" y="476250"/>
            <a:ext cx="6572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6D98D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/05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6334125" y="2571750"/>
            <a:ext cx="5350668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CONCENTRATION ANALYSIS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6334125" y="4781550"/>
            <a:ext cx="50958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*Note: While volume is high, fraud </a:t>
            </a:r>
            <a:r>
              <a:rPr lang="en-US" sz="1200" b="0" i="1" u="none" strike="noStrike" cap="none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rates</a:t>
            </a:r>
            <a:r>
              <a:rPr lang="en-US" sz="1200" b="0" i="0" u="none" strike="noStrike" cap="none">
                <a:solidFill>
                  <a:srgbClr val="666666"/>
                </a:solidFill>
                <a:latin typeface="Barlow"/>
                <a:ea typeface="Barlow"/>
                <a:cs typeface="Barlow"/>
                <a:sym typeface="Barlow"/>
              </a:rPr>
              <a:t> were distributed across states, indicating fraud is not strictly geo-locked.</a:t>
            </a:r>
            <a:endParaRPr/>
          </a:p>
        </p:txBody>
      </p:sp>
      <p:pic>
        <p:nvPicPr>
          <p:cNvPr id="219" name="Google Shape;21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84150" y="352437"/>
            <a:ext cx="1285875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8"/>
          <p:cNvSpPr txBox="1"/>
          <p:nvPr/>
        </p:nvSpPr>
        <p:spPr>
          <a:xfrm>
            <a:off x="6071649" y="1862874"/>
            <a:ext cx="3796752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Top States by Claim Volume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6334125" y="2752725"/>
            <a:ext cx="5095800" cy="4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1. California (CA)</a:t>
            </a:r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6334125" y="3429000"/>
            <a:ext cx="5095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35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2. Florida (FL)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6334125" y="4105275"/>
            <a:ext cx="5095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3. NewYork</a:t>
            </a:r>
            <a:endParaRPr/>
          </a:p>
        </p:txBody>
      </p:sp>
      <p:sp>
        <p:nvSpPr>
          <p:cNvPr id="224" name="Google Shape;224;p18"/>
          <p:cNvSpPr/>
          <p:nvPr/>
        </p:nvSpPr>
        <p:spPr>
          <a:xfrm>
            <a:off x="6334125" y="3143250"/>
            <a:ext cx="4076700" cy="95250"/>
          </a:xfrm>
          <a:prstGeom prst="rect">
            <a:avLst/>
          </a:prstGeom>
          <a:solidFill>
            <a:srgbClr val="0E38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/>
          <p:nvPr/>
        </p:nvSpPr>
        <p:spPr>
          <a:xfrm>
            <a:off x="6334125" y="3819525"/>
            <a:ext cx="3312318" cy="95250"/>
          </a:xfrm>
          <a:prstGeom prst="rect">
            <a:avLst/>
          </a:prstGeom>
          <a:solidFill>
            <a:srgbClr val="0E38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6334125" y="4495800"/>
            <a:ext cx="3057525" cy="95250"/>
          </a:xfrm>
          <a:prstGeom prst="rect">
            <a:avLst/>
          </a:prstGeom>
          <a:solidFill>
            <a:srgbClr val="0E38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375" y="1709725"/>
            <a:ext cx="6103175" cy="374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2DE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19" descr="image.png"/>
          <p:cNvPicPr preferRelativeResize="0"/>
          <p:nvPr/>
        </p:nvPicPr>
        <p:blipFill rotWithShape="1">
          <a:blip r:embed="rId3">
            <a:alphaModFix/>
          </a:blip>
          <a:srcRect l="-1360" t="-1870" r="1359" b="1870"/>
          <a:stretch/>
        </p:blipFill>
        <p:spPr>
          <a:xfrm>
            <a:off x="762000" y="1523988"/>
            <a:ext cx="10668000" cy="4953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33" name="Google Shape;23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6477000"/>
            <a:ext cx="109728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9"/>
          <p:cNvSpPr txBox="1"/>
          <p:nvPr/>
        </p:nvSpPr>
        <p:spPr>
          <a:xfrm>
            <a:off x="762000" y="519112"/>
            <a:ext cx="60007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EDA: THE FINANCIAL FINGERPRINT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10772775" y="476250"/>
            <a:ext cx="6572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6D98D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/06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6334125" y="2905125"/>
            <a:ext cx="5350668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KEY INSIGHT: REIMBURSEMENT SKEW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6334125" y="3086100"/>
            <a:ext cx="50958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Fraudulent providers have significantly higher average reimbursement claims.</a:t>
            </a:r>
            <a:endParaRPr/>
          </a:p>
        </p:txBody>
      </p:sp>
      <p:pic>
        <p:nvPicPr>
          <p:cNvPr id="238" name="Google Shape;23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0" y="409575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9"/>
          <p:cNvSpPr txBox="1"/>
          <p:nvPr/>
        </p:nvSpPr>
        <p:spPr>
          <a:xfrm>
            <a:off x="6943725" y="4076700"/>
            <a:ext cx="8763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Observation: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2DE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6477000"/>
            <a:ext cx="10972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971675"/>
            <a:ext cx="3365450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1971675"/>
            <a:ext cx="3365450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1971675"/>
            <a:ext cx="3365599" cy="2190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0"/>
          <p:cNvSpPr txBox="1"/>
          <p:nvPr/>
        </p:nvSpPr>
        <p:spPr>
          <a:xfrm>
            <a:off x="762000" y="1428750"/>
            <a:ext cx="10668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Do fraudulent providers target sicker patients?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762000" y="519112"/>
            <a:ext cx="5370671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EDA: PATIENT HEALTH PROFILE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10772775" y="476250"/>
            <a:ext cx="6572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6D98D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/07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977901" y="2476500"/>
            <a:ext cx="293364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E364B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RENAL DISEASE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1047750" y="2657475"/>
            <a:ext cx="2793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Highest correlation with high-cost claims. Often targeted for expensive dialysis billing.</a:t>
            </a:r>
            <a:endParaRPr/>
          </a:p>
        </p:txBody>
      </p:sp>
      <p:pic>
        <p:nvPicPr>
          <p:cNvPr id="253" name="Google Shape;253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57726" y="22574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0"/>
          <p:cNvSpPr txBox="1"/>
          <p:nvPr/>
        </p:nvSpPr>
        <p:spPr>
          <a:xfrm>
            <a:off x="4629101" y="2924175"/>
            <a:ext cx="293364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E364B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HEART FAILURE</a:t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4698950" y="3105150"/>
            <a:ext cx="2793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Common co-morbidity in fraudulent inpatient admissions to justify longer stays.</a:t>
            </a:r>
            <a:endParaRPr/>
          </a:p>
        </p:txBody>
      </p:sp>
      <p:pic>
        <p:nvPicPr>
          <p:cNvPr id="256" name="Google Shape;256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09075" y="22574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0"/>
          <p:cNvSpPr txBox="1"/>
          <p:nvPr/>
        </p:nvSpPr>
        <p:spPr>
          <a:xfrm>
            <a:off x="8280298" y="2924175"/>
            <a:ext cx="2933804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E364B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ALZHEIMER'S</a:t>
            </a:r>
            <a:endParaRPr/>
          </a:p>
        </p:txBody>
      </p:sp>
      <p:sp>
        <p:nvSpPr>
          <p:cNvPr id="258" name="Google Shape;258;p20"/>
          <p:cNvSpPr txBox="1"/>
          <p:nvPr/>
        </p:nvSpPr>
        <p:spPr>
          <a:xfrm>
            <a:off x="8350150" y="3105150"/>
            <a:ext cx="2794099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Moderate correlation. Vulnerable population often targeted for phantom billing.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2DE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6477000"/>
            <a:ext cx="10972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428750"/>
            <a:ext cx="5095875" cy="49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1"/>
          <p:cNvSpPr txBox="1"/>
          <p:nvPr/>
        </p:nvSpPr>
        <p:spPr>
          <a:xfrm>
            <a:off x="762000" y="519112"/>
            <a:ext cx="868108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FEATURE ENGINEERING: AGGREGATION STRATEGY</a:t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10772775" y="476250"/>
            <a:ext cx="6572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6D98D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/08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762000" y="2338387"/>
            <a:ext cx="5350668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FROM TRANSACTIONS TO BEHAVIOR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762000" y="2519362"/>
            <a:ext cx="50958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Since we predict fraud at the </a:t>
            </a: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Provider Level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, we flattened 550k+ claims using aggregation functions.</a:t>
            </a:r>
            <a:endParaRPr/>
          </a:p>
        </p:txBody>
      </p:sp>
      <p:graphicFrame>
        <p:nvGraphicFramePr>
          <p:cNvPr id="269" name="Google Shape;269;p21"/>
          <p:cNvGraphicFramePr/>
          <p:nvPr/>
        </p:nvGraphicFramePr>
        <p:xfrm>
          <a:off x="762000" y="3224212"/>
          <a:ext cx="5095875" cy="2247900"/>
        </p:xfrm>
        <a:graphic>
          <a:graphicData uri="http://schemas.openxmlformats.org/drawingml/2006/table">
            <a:tbl>
              <a:tblPr firstRow="1" bandRow="1">
                <a:noFill/>
                <a:tableStyleId>{6BBA4DBE-9566-4F57-AD23-64054DF4D6E3}</a:tableStyleId>
              </a:tblPr>
              <a:tblGrid>
                <a:gridCol w="202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4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Raw Feature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387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Aggregation Function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387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New Feature 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38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InscClaimAmtReimbursed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Mean, Sum, Max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Avg_Reimbursement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ClaimDuration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Mean, Max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Max_LengthOfStay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DiagnosisCode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Count Unique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Diagnosis_Diversity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70" name="Google Shape;27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53437" y="3300412"/>
            <a:ext cx="8572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1"/>
          <p:cNvSpPr txBox="1"/>
          <p:nvPr/>
        </p:nvSpPr>
        <p:spPr>
          <a:xfrm>
            <a:off x="7786687" y="4252912"/>
            <a:ext cx="21907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Many-to-One Transformation</a:t>
            </a:r>
            <a:endParaRPr/>
          </a:p>
        </p:txBody>
      </p:sp>
      <p:sp>
        <p:nvSpPr>
          <p:cNvPr id="272" name="Google Shape;272;p21"/>
          <p:cNvSpPr/>
          <p:nvPr/>
        </p:nvSpPr>
        <p:spPr>
          <a:xfrm>
            <a:off x="762000" y="4419600"/>
            <a:ext cx="202882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2790825" y="4419600"/>
            <a:ext cx="136207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4152900" y="4419600"/>
            <a:ext cx="170497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762000" y="4943475"/>
            <a:ext cx="202882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2790825" y="4943475"/>
            <a:ext cx="136207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4152900" y="4943475"/>
            <a:ext cx="170497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2DE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6477000"/>
            <a:ext cx="10972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271837"/>
            <a:ext cx="5095875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052762"/>
            <a:ext cx="5095875" cy="196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2"/>
          <p:cNvSpPr txBox="1"/>
          <p:nvPr/>
        </p:nvSpPr>
        <p:spPr>
          <a:xfrm>
            <a:off x="762000" y="1428750"/>
            <a:ext cx="10668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Handling the "Curse of Dimensionality" in Diagnosis Codes.</a:t>
            </a:r>
            <a:endParaRPr/>
          </a:p>
        </p:txBody>
      </p:sp>
      <p:sp>
        <p:nvSpPr>
          <p:cNvPr id="286" name="Google Shape;286;p22"/>
          <p:cNvSpPr txBox="1"/>
          <p:nvPr/>
        </p:nvSpPr>
        <p:spPr>
          <a:xfrm>
            <a:off x="762000" y="519112"/>
            <a:ext cx="468058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CLINICAL GROUPING LOGIC</a:t>
            </a:r>
            <a:endParaRPr/>
          </a:p>
        </p:txBody>
      </p:sp>
      <p:sp>
        <p:nvSpPr>
          <p:cNvPr id="287" name="Google Shape;287;p22"/>
          <p:cNvSpPr txBox="1"/>
          <p:nvPr/>
        </p:nvSpPr>
        <p:spPr>
          <a:xfrm>
            <a:off x="10772775" y="476250"/>
            <a:ext cx="6572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6D98D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/09</a:t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1047750" y="3557587"/>
            <a:ext cx="4750593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0392B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PROBLEM</a:t>
            </a:r>
            <a:endParaRPr/>
          </a:p>
        </p:txBody>
      </p:sp>
      <p:sp>
        <p:nvSpPr>
          <p:cNvPr id="289" name="Google Shape;289;p22"/>
          <p:cNvSpPr txBox="1"/>
          <p:nvPr/>
        </p:nvSpPr>
        <p:spPr>
          <a:xfrm>
            <a:off x="1047750" y="3738562"/>
            <a:ext cx="45243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14,000+ unique ICD-9 Codes.</a:t>
            </a:r>
            <a:endParaRPr/>
          </a:p>
        </p:txBody>
      </p:sp>
      <p:sp>
        <p:nvSpPr>
          <p:cNvPr id="290" name="Google Shape;290;p22"/>
          <p:cNvSpPr txBox="1"/>
          <p:nvPr/>
        </p:nvSpPr>
        <p:spPr>
          <a:xfrm>
            <a:off x="1047750" y="3995737"/>
            <a:ext cx="45243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One-Hot Encoding would create a sparse, massive matrix that overfits easily.</a:t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6638925" y="3357562"/>
            <a:ext cx="4710588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7AE6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SOLUTION: CCS GROUPING</a:t>
            </a:r>
            <a:endParaRPr/>
          </a:p>
        </p:txBody>
      </p:sp>
      <p:sp>
        <p:nvSpPr>
          <p:cNvPr id="292" name="Google Shape;292;p22"/>
          <p:cNvSpPr txBox="1"/>
          <p:nvPr/>
        </p:nvSpPr>
        <p:spPr>
          <a:xfrm>
            <a:off x="6638925" y="3538537"/>
            <a:ext cx="44862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Mapped codes to </a:t>
            </a: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17 Clinical Domains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.</a:t>
            </a:r>
            <a:endParaRPr/>
          </a:p>
        </p:txBody>
      </p:sp>
      <p:sp>
        <p:nvSpPr>
          <p:cNvPr id="293" name="Google Shape;293;p22"/>
          <p:cNvSpPr txBox="1"/>
          <p:nvPr/>
        </p:nvSpPr>
        <p:spPr>
          <a:xfrm>
            <a:off x="6581775" y="3938587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294" name="Google Shape;294;p22"/>
          <p:cNvSpPr txBox="1"/>
          <p:nvPr/>
        </p:nvSpPr>
        <p:spPr>
          <a:xfrm>
            <a:off x="6638925" y="3938587"/>
            <a:ext cx="44862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401.9 (Hypertension) → </a:t>
            </a: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Circulatory</a:t>
            </a:r>
            <a:endParaRPr/>
          </a:p>
        </p:txBody>
      </p:sp>
      <p:sp>
        <p:nvSpPr>
          <p:cNvPr id="295" name="Google Shape;295;p22"/>
          <p:cNvSpPr txBox="1"/>
          <p:nvPr/>
        </p:nvSpPr>
        <p:spPr>
          <a:xfrm>
            <a:off x="6581775" y="4195762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296" name="Google Shape;296;p22"/>
          <p:cNvSpPr txBox="1"/>
          <p:nvPr/>
        </p:nvSpPr>
        <p:spPr>
          <a:xfrm>
            <a:off x="6638925" y="4195762"/>
            <a:ext cx="44862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250.0 (Diabetes) → </a:t>
            </a: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Metabolic</a:t>
            </a:r>
            <a:endParaRPr/>
          </a:p>
        </p:txBody>
      </p:sp>
      <p:sp>
        <p:nvSpPr>
          <p:cNvPr id="297" name="Google Shape;297;p22"/>
          <p:cNvSpPr txBox="1"/>
          <p:nvPr/>
        </p:nvSpPr>
        <p:spPr>
          <a:xfrm>
            <a:off x="6581775" y="4452937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6638925" y="4452937"/>
            <a:ext cx="44862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800.0 (Fracture) → </a:t>
            </a: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Trauma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2DE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6477000"/>
            <a:ext cx="10972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876425"/>
            <a:ext cx="3365450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1876425"/>
            <a:ext cx="3365450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1876425"/>
            <a:ext cx="3365599" cy="20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3"/>
          <p:cNvSpPr txBox="1"/>
          <p:nvPr/>
        </p:nvSpPr>
        <p:spPr>
          <a:xfrm>
            <a:off x="762000" y="1428750"/>
            <a:ext cx="10668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We engineered 100 features. Here are the top performers:</a:t>
            </a:r>
            <a:endParaRPr/>
          </a:p>
        </p:txBody>
      </p:sp>
      <p:sp>
        <p:nvSpPr>
          <p:cNvPr id="308" name="Google Shape;308;p23"/>
          <p:cNvSpPr txBox="1"/>
          <p:nvPr/>
        </p:nvSpPr>
        <p:spPr>
          <a:xfrm>
            <a:off x="762000" y="519112"/>
            <a:ext cx="4100512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BEHAVIORAL FEATURES</a:t>
            </a:r>
            <a:endParaRPr/>
          </a:p>
        </p:txBody>
      </p:sp>
      <p:sp>
        <p:nvSpPr>
          <p:cNvPr id="309" name="Google Shape;309;p23"/>
          <p:cNvSpPr txBox="1"/>
          <p:nvPr/>
        </p:nvSpPr>
        <p:spPr>
          <a:xfrm>
            <a:off x="10772775" y="476250"/>
            <a:ext cx="6572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6D98D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/10</a:t>
            </a:r>
            <a:endParaRPr/>
          </a:p>
        </p:txBody>
      </p:sp>
      <p:sp>
        <p:nvSpPr>
          <p:cNvPr id="310" name="Google Shape;310;p23"/>
          <p:cNvSpPr txBox="1"/>
          <p:nvPr/>
        </p:nvSpPr>
        <p:spPr>
          <a:xfrm>
            <a:off x="1047750" y="2219325"/>
            <a:ext cx="293364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1. CLAIMDURATION_MAX</a:t>
            </a:r>
            <a:endParaRPr/>
          </a:p>
        </p:txBody>
      </p:sp>
      <p:sp>
        <p:nvSpPr>
          <p:cNvPr id="311" name="Google Shape;311;p23"/>
          <p:cNvSpPr txBox="1"/>
          <p:nvPr/>
        </p:nvSpPr>
        <p:spPr>
          <a:xfrm>
            <a:off x="1047750" y="2581275"/>
            <a:ext cx="27939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The maximum length of stay recorded by a provider. Fraudsters often inflate this to the max allowed limit.</a:t>
            </a:r>
            <a:endParaRPr/>
          </a:p>
        </p:txBody>
      </p:sp>
      <p:sp>
        <p:nvSpPr>
          <p:cNvPr id="312" name="Google Shape;312;p23"/>
          <p:cNvSpPr txBox="1"/>
          <p:nvPr/>
        </p:nvSpPr>
        <p:spPr>
          <a:xfrm>
            <a:off x="4486223" y="2202269"/>
            <a:ext cx="33654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2. DIAGNOSISGROUP_COUNT</a:t>
            </a:r>
            <a:endParaRPr/>
          </a:p>
        </p:txBody>
      </p:sp>
      <p:sp>
        <p:nvSpPr>
          <p:cNvPr id="313" name="Google Shape;313;p23"/>
          <p:cNvSpPr txBox="1"/>
          <p:nvPr/>
        </p:nvSpPr>
        <p:spPr>
          <a:xfrm>
            <a:off x="4698950" y="2747962"/>
            <a:ext cx="279395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The variety of diagnosis codes used. High variance suggests "kitchen sinking" (adding codes to justify cost).</a:t>
            </a:r>
            <a:endParaRPr/>
          </a:p>
        </p:txBody>
      </p:sp>
      <p:sp>
        <p:nvSpPr>
          <p:cNvPr id="314" name="Google Shape;314;p23"/>
          <p:cNvSpPr txBox="1"/>
          <p:nvPr/>
        </p:nvSpPr>
        <p:spPr>
          <a:xfrm>
            <a:off x="8350150" y="2219325"/>
            <a:ext cx="2933804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3. INPATIENT_STDDEV</a:t>
            </a:r>
            <a:endParaRPr/>
          </a:p>
        </p:txBody>
      </p:sp>
      <p:sp>
        <p:nvSpPr>
          <p:cNvPr id="315" name="Google Shape;315;p23"/>
          <p:cNvSpPr txBox="1"/>
          <p:nvPr/>
        </p:nvSpPr>
        <p:spPr>
          <a:xfrm>
            <a:off x="8350150" y="2581275"/>
            <a:ext cx="2794099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Variability in inpatient claim costs. Fraudsters often have rigid billing patterns (low variance) compared to real life.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2DE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952500"/>
            <a:ext cx="10668000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6477000"/>
            <a:ext cx="109728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4"/>
          <p:cNvSpPr txBox="1"/>
          <p:nvPr/>
        </p:nvSpPr>
        <p:spPr>
          <a:xfrm>
            <a:off x="762000" y="519112"/>
            <a:ext cx="351043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9:1 IMBALANCE</a:t>
            </a:r>
            <a:endParaRPr/>
          </a:p>
        </p:txBody>
      </p:sp>
      <p:sp>
        <p:nvSpPr>
          <p:cNvPr id="323" name="Google Shape;323;p24"/>
          <p:cNvSpPr txBox="1"/>
          <p:nvPr/>
        </p:nvSpPr>
        <p:spPr>
          <a:xfrm>
            <a:off x="10772775" y="476250"/>
            <a:ext cx="6572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6D98D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/11</a:t>
            </a:r>
            <a:endParaRPr/>
          </a:p>
        </p:txBody>
      </p:sp>
      <p:sp>
        <p:nvSpPr>
          <p:cNvPr id="324" name="Google Shape;324;p24"/>
          <p:cNvSpPr txBox="1"/>
          <p:nvPr/>
        </p:nvSpPr>
        <p:spPr>
          <a:xfrm>
            <a:off x="6334125" y="3028950"/>
            <a:ext cx="5350668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WHY THIS MATTERS</a:t>
            </a:r>
            <a:endParaRPr/>
          </a:p>
        </p:txBody>
      </p:sp>
      <p:sp>
        <p:nvSpPr>
          <p:cNvPr id="325" name="Google Shape;325;p24"/>
          <p:cNvSpPr txBox="1"/>
          <p:nvPr/>
        </p:nvSpPr>
        <p:spPr>
          <a:xfrm>
            <a:off x="6334125" y="3209925"/>
            <a:ext cx="50958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Standard algorithms (like Logistic Regression) optimize for Accuracy.</a:t>
            </a:r>
            <a:endParaRPr/>
          </a:p>
        </p:txBody>
      </p:sp>
      <p:sp>
        <p:nvSpPr>
          <p:cNvPr id="326" name="Google Shape;326;p24"/>
          <p:cNvSpPr txBox="1"/>
          <p:nvPr/>
        </p:nvSpPr>
        <p:spPr>
          <a:xfrm>
            <a:off x="6334125" y="3867150"/>
            <a:ext cx="50958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In this dataset, a "dumb" model predicting </a:t>
            </a: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No Fraud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 for everyone achieves </a:t>
            </a: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90.6% Accuracy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.</a:t>
            </a:r>
            <a:endParaRPr/>
          </a:p>
        </p:txBody>
      </p:sp>
      <p:sp>
        <p:nvSpPr>
          <p:cNvPr id="327" name="Google Shape;327;p24"/>
          <p:cNvSpPr txBox="1"/>
          <p:nvPr/>
        </p:nvSpPr>
        <p:spPr>
          <a:xfrm>
            <a:off x="6334125" y="4524375"/>
            <a:ext cx="50958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0392B"/>
                </a:solidFill>
                <a:latin typeface="Barlow"/>
                <a:ea typeface="Barlow"/>
                <a:cs typeface="Barlow"/>
                <a:sym typeface="Barlow"/>
              </a:rPr>
              <a:t>Result: 0% Fraud Detection.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2DE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952500"/>
            <a:ext cx="10668000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6477000"/>
            <a:ext cx="109728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5"/>
          <p:cNvSpPr txBox="1"/>
          <p:nvPr/>
        </p:nvSpPr>
        <p:spPr>
          <a:xfrm>
            <a:off x="762000" y="519112"/>
            <a:ext cx="3510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9:1 IMBALANCE</a:t>
            </a:r>
            <a:endParaRPr/>
          </a:p>
        </p:txBody>
      </p:sp>
      <p:sp>
        <p:nvSpPr>
          <p:cNvPr id="335" name="Google Shape;335;p25"/>
          <p:cNvSpPr txBox="1"/>
          <p:nvPr/>
        </p:nvSpPr>
        <p:spPr>
          <a:xfrm>
            <a:off x="10772775" y="476250"/>
            <a:ext cx="657300" cy="5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6D98D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/11</a:t>
            </a:r>
            <a:endParaRPr/>
          </a:p>
        </p:txBody>
      </p:sp>
      <p:sp>
        <p:nvSpPr>
          <p:cNvPr id="336" name="Google Shape;336;p25"/>
          <p:cNvSpPr txBox="1"/>
          <p:nvPr/>
        </p:nvSpPr>
        <p:spPr>
          <a:xfrm>
            <a:off x="6334125" y="3028950"/>
            <a:ext cx="5350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WHY THIS MATTERS</a:t>
            </a:r>
            <a:endParaRPr/>
          </a:p>
        </p:txBody>
      </p:sp>
      <p:sp>
        <p:nvSpPr>
          <p:cNvPr id="337" name="Google Shape;337;p25"/>
          <p:cNvSpPr txBox="1"/>
          <p:nvPr/>
        </p:nvSpPr>
        <p:spPr>
          <a:xfrm>
            <a:off x="6334125" y="3209925"/>
            <a:ext cx="5095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Standard algorithms (like Logistic Regression) optimize for Accuracy.</a:t>
            </a:r>
            <a:endParaRPr/>
          </a:p>
        </p:txBody>
      </p:sp>
      <p:sp>
        <p:nvSpPr>
          <p:cNvPr id="338" name="Google Shape;338;p25"/>
          <p:cNvSpPr txBox="1"/>
          <p:nvPr/>
        </p:nvSpPr>
        <p:spPr>
          <a:xfrm>
            <a:off x="6334125" y="3867150"/>
            <a:ext cx="50958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In this dataset, a "dumb" model predicting </a:t>
            </a: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No Fraud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 for everyone achieves </a:t>
            </a: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90.6% Accuracy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.</a:t>
            </a:r>
            <a:endParaRPr/>
          </a:p>
        </p:txBody>
      </p:sp>
      <p:sp>
        <p:nvSpPr>
          <p:cNvPr id="339" name="Google Shape;339;p25"/>
          <p:cNvSpPr txBox="1"/>
          <p:nvPr/>
        </p:nvSpPr>
        <p:spPr>
          <a:xfrm>
            <a:off x="6334125" y="4524375"/>
            <a:ext cx="5095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0392B"/>
                </a:solidFill>
                <a:latin typeface="Barlow"/>
                <a:ea typeface="Barlow"/>
                <a:cs typeface="Barlow"/>
                <a:sym typeface="Barlow"/>
              </a:rPr>
              <a:t>Result: 0% Fraud Detection.</a:t>
            </a:r>
            <a:endParaRPr/>
          </a:p>
        </p:txBody>
      </p:sp>
      <p:pic>
        <p:nvPicPr>
          <p:cNvPr id="340" name="Google Shape;340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0500" y="1556537"/>
            <a:ext cx="11811000" cy="4367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2DE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6477000"/>
            <a:ext cx="10972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971675"/>
            <a:ext cx="5191125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971675"/>
            <a:ext cx="5191125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371850"/>
            <a:ext cx="5191125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3371850"/>
            <a:ext cx="5191125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6"/>
          <p:cNvSpPr txBox="1"/>
          <p:nvPr/>
        </p:nvSpPr>
        <p:spPr>
          <a:xfrm>
            <a:off x="762000" y="1428750"/>
            <a:ext cx="10668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We tested 8 different resampling strategies in our pipeline.</a:t>
            </a:r>
            <a:endParaRPr/>
          </a:p>
        </p:txBody>
      </p:sp>
      <p:sp>
        <p:nvSpPr>
          <p:cNvPr id="351" name="Google Shape;351;p26"/>
          <p:cNvSpPr txBox="1"/>
          <p:nvPr/>
        </p:nvSpPr>
        <p:spPr>
          <a:xfrm>
            <a:off x="762000" y="519112"/>
            <a:ext cx="368046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SOLVING IMBALANCE</a:t>
            </a:r>
            <a:endParaRPr/>
          </a:p>
        </p:txBody>
      </p:sp>
      <p:sp>
        <p:nvSpPr>
          <p:cNvPr id="352" name="Google Shape;352;p26"/>
          <p:cNvSpPr txBox="1"/>
          <p:nvPr/>
        </p:nvSpPr>
        <p:spPr>
          <a:xfrm>
            <a:off x="10772775" y="476250"/>
            <a:ext cx="6572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6D98D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/12</a:t>
            </a:r>
            <a:endParaRPr/>
          </a:p>
        </p:txBody>
      </p:sp>
      <p:sp>
        <p:nvSpPr>
          <p:cNvPr id="353" name="Google Shape;353;p26"/>
          <p:cNvSpPr txBox="1"/>
          <p:nvPr/>
        </p:nvSpPr>
        <p:spPr>
          <a:xfrm>
            <a:off x="1028700" y="2228850"/>
            <a:ext cx="4762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E3875"/>
                </a:solidFill>
                <a:latin typeface="Barlow"/>
                <a:ea typeface="Barlow"/>
                <a:cs typeface="Barlow"/>
                <a:sym typeface="Barlow"/>
              </a:rPr>
              <a:t>1</a:t>
            </a:r>
            <a:endParaRPr/>
          </a:p>
        </p:txBody>
      </p:sp>
      <p:sp>
        <p:nvSpPr>
          <p:cNvPr id="354" name="Google Shape;354;p26"/>
          <p:cNvSpPr txBox="1"/>
          <p:nvPr/>
        </p:nvSpPr>
        <p:spPr>
          <a:xfrm>
            <a:off x="1695450" y="2162175"/>
            <a:ext cx="40671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SMOTE (Oversampling)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 Generates synthetic fraud examples by interpolating between existing ones. Good for keeping data volume high.</a:t>
            </a:r>
            <a:endParaRPr/>
          </a:p>
        </p:txBody>
      </p:sp>
      <p:sp>
        <p:nvSpPr>
          <p:cNvPr id="355" name="Google Shape;355;p26"/>
          <p:cNvSpPr txBox="1"/>
          <p:nvPr/>
        </p:nvSpPr>
        <p:spPr>
          <a:xfrm>
            <a:off x="6505575" y="2228850"/>
            <a:ext cx="4762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E3875"/>
                </a:solidFill>
                <a:latin typeface="Barlow"/>
                <a:ea typeface="Barlow"/>
                <a:cs typeface="Barlow"/>
                <a:sym typeface="Barlow"/>
              </a:rPr>
              <a:t>2</a:t>
            </a:r>
            <a:endParaRPr/>
          </a:p>
        </p:txBody>
      </p:sp>
      <p:sp>
        <p:nvSpPr>
          <p:cNvPr id="356" name="Google Shape;356;p26"/>
          <p:cNvSpPr txBox="1"/>
          <p:nvPr/>
        </p:nvSpPr>
        <p:spPr>
          <a:xfrm>
            <a:off x="7172325" y="2162175"/>
            <a:ext cx="40671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RandomUnderSampler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 Deletes non-fraud examples. Fast, but loses information. Worked best for SVM.</a:t>
            </a:r>
            <a:endParaRPr/>
          </a:p>
        </p:txBody>
      </p:sp>
      <p:sp>
        <p:nvSpPr>
          <p:cNvPr id="357" name="Google Shape;357;p26"/>
          <p:cNvSpPr txBox="1"/>
          <p:nvPr/>
        </p:nvSpPr>
        <p:spPr>
          <a:xfrm>
            <a:off x="1028700" y="3629025"/>
            <a:ext cx="4762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E3875"/>
                </a:solidFill>
                <a:latin typeface="Barlow"/>
                <a:ea typeface="Barlow"/>
                <a:cs typeface="Barlow"/>
                <a:sym typeface="Barlow"/>
              </a:rPr>
              <a:t>3</a:t>
            </a:r>
            <a:endParaRPr/>
          </a:p>
        </p:txBody>
      </p:sp>
      <p:sp>
        <p:nvSpPr>
          <p:cNvPr id="358" name="Google Shape;358;p26"/>
          <p:cNvSpPr txBox="1"/>
          <p:nvPr/>
        </p:nvSpPr>
        <p:spPr>
          <a:xfrm>
            <a:off x="1695450" y="3562350"/>
            <a:ext cx="40671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Class Weights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 Mathematical penalization. Telling the model "One fraud error costs as much as 10 non-fraud errors."</a:t>
            </a:r>
            <a:endParaRPr/>
          </a:p>
        </p:txBody>
      </p:sp>
      <p:sp>
        <p:nvSpPr>
          <p:cNvPr id="359" name="Google Shape;359;p26"/>
          <p:cNvSpPr txBox="1"/>
          <p:nvPr/>
        </p:nvSpPr>
        <p:spPr>
          <a:xfrm>
            <a:off x="6505575" y="3629025"/>
            <a:ext cx="4762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E3875"/>
                </a:solidFill>
                <a:latin typeface="Barlow"/>
                <a:ea typeface="Barlow"/>
                <a:cs typeface="Barlow"/>
                <a:sym typeface="Barlow"/>
              </a:rPr>
              <a:t>4</a:t>
            </a:r>
            <a:endParaRPr/>
          </a:p>
        </p:txBody>
      </p:sp>
      <p:sp>
        <p:nvSpPr>
          <p:cNvPr id="360" name="Google Shape;360;p26"/>
          <p:cNvSpPr txBox="1"/>
          <p:nvPr/>
        </p:nvSpPr>
        <p:spPr>
          <a:xfrm>
            <a:off x="7172325" y="3562350"/>
            <a:ext cx="40671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SMOTE + Tomek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 Hybrid approach. Oversamples fraud, then cleans up noisy boundary points.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2DE"/>
        </a:solidFill>
        <a:effectLst/>
      </p:bgPr>
    </p:bg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6477000"/>
            <a:ext cx="10972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905000"/>
            <a:ext cx="213360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79225" y="1908675"/>
            <a:ext cx="213360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05201" y="1908675"/>
            <a:ext cx="213360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96102" y="1924050"/>
            <a:ext cx="213360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7"/>
          <p:cNvSpPr txBox="1"/>
          <p:nvPr/>
        </p:nvSpPr>
        <p:spPr>
          <a:xfrm>
            <a:off x="762000" y="3067050"/>
            <a:ext cx="10668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Crucial Detail: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 Resampling was applied </a:t>
            </a:r>
            <a:r>
              <a:rPr lang="en-US" sz="1350" b="0" i="1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inside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 the Cross-Validation loop to prevent data leakage.</a:t>
            </a:r>
            <a:endParaRPr/>
          </a:p>
        </p:txBody>
      </p:sp>
      <p:sp>
        <p:nvSpPr>
          <p:cNvPr id="371" name="Google Shape;371;p27"/>
          <p:cNvSpPr txBox="1"/>
          <p:nvPr/>
        </p:nvSpPr>
        <p:spPr>
          <a:xfrm>
            <a:off x="762000" y="519112"/>
            <a:ext cx="4340542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PIPELINE ARCHITECTURE</a:t>
            </a:r>
            <a:endParaRPr/>
          </a:p>
        </p:txBody>
      </p:sp>
      <p:sp>
        <p:nvSpPr>
          <p:cNvPr id="372" name="Google Shape;372;p27"/>
          <p:cNvSpPr txBox="1"/>
          <p:nvPr/>
        </p:nvSpPr>
        <p:spPr>
          <a:xfrm>
            <a:off x="10772775" y="476250"/>
            <a:ext cx="6572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6D98D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/13</a:t>
            </a:r>
            <a:endParaRPr/>
          </a:p>
        </p:txBody>
      </p:sp>
      <p:pic>
        <p:nvPicPr>
          <p:cNvPr id="373" name="Google Shape;373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184475" y="221932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2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982834" y="2185525"/>
            <a:ext cx="213141" cy="22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2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873876" y="2219325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7"/>
          <p:cNvSpPr txBox="1"/>
          <p:nvPr/>
        </p:nvSpPr>
        <p:spPr>
          <a:xfrm>
            <a:off x="1292825" y="2114550"/>
            <a:ext cx="115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Input Data</a:t>
            </a:r>
            <a:endParaRPr/>
          </a:p>
        </p:txBody>
      </p:sp>
      <p:sp>
        <p:nvSpPr>
          <p:cNvPr id="377" name="Google Shape;377;p27"/>
          <p:cNvSpPr txBox="1"/>
          <p:nvPr/>
        </p:nvSpPr>
        <p:spPr>
          <a:xfrm>
            <a:off x="7245938" y="2034525"/>
            <a:ext cx="1000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Preprocessing</a:t>
            </a:r>
            <a:endParaRPr/>
          </a:p>
        </p:txBody>
      </p:sp>
      <p:sp>
        <p:nvSpPr>
          <p:cNvPr id="378" name="Google Shape;378;p27"/>
          <p:cNvSpPr txBox="1"/>
          <p:nvPr/>
        </p:nvSpPr>
        <p:spPr>
          <a:xfrm>
            <a:off x="4056575" y="2114550"/>
            <a:ext cx="907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Resampler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2DE"/>
        </a:solidFill>
        <a:effectLst/>
      </p:bgPr>
    </p:bg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6477000"/>
            <a:ext cx="10972800" cy="190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84" name="Google Shape;384;p28"/>
          <p:cNvGraphicFramePr/>
          <p:nvPr/>
        </p:nvGraphicFramePr>
        <p:xfrm>
          <a:off x="762000" y="1619250"/>
          <a:ext cx="10668025" cy="2571750"/>
        </p:xfrm>
        <a:graphic>
          <a:graphicData uri="http://schemas.openxmlformats.org/drawingml/2006/table">
            <a:tbl>
              <a:tblPr firstRow="1" bandRow="1">
                <a:noFill/>
                <a:tableStyleId>{6BBA4DBE-9566-4F57-AD23-64054DF4D6E3}</a:tableStyleId>
              </a:tblPr>
              <a:tblGrid>
                <a:gridCol w="245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3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12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Algorithm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387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Pros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387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Cons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38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Logistic Regression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Interpretability, Speed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Fails to capture non-linear fraud patterns.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Support Vector Machine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High Recall (Catch rate)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Computationally expensive, Low Precision.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Random Forest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Robust to outliers, Parallelizable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Struggled with Recall on the minority class here.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Gradient Boosting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Best performance</a:t>
                      </a: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, Iterative correction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Slower training time, Requires tuning.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85" name="Google Shape;385;p28"/>
          <p:cNvSpPr txBox="1"/>
          <p:nvPr/>
        </p:nvSpPr>
        <p:spPr>
          <a:xfrm>
            <a:off x="762000" y="519112"/>
            <a:ext cx="4420552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CANDIDATE ALGORITHMS</a:t>
            </a:r>
            <a:endParaRPr/>
          </a:p>
        </p:txBody>
      </p:sp>
      <p:sp>
        <p:nvSpPr>
          <p:cNvPr id="386" name="Google Shape;386;p28"/>
          <p:cNvSpPr txBox="1"/>
          <p:nvPr/>
        </p:nvSpPr>
        <p:spPr>
          <a:xfrm>
            <a:off x="10772775" y="476250"/>
            <a:ext cx="6572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6D98D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/14</a:t>
            </a:r>
            <a:endParaRPr/>
          </a:p>
        </p:txBody>
      </p:sp>
      <p:sp>
        <p:nvSpPr>
          <p:cNvPr id="387" name="Google Shape;387;p28"/>
          <p:cNvSpPr/>
          <p:nvPr/>
        </p:nvSpPr>
        <p:spPr>
          <a:xfrm>
            <a:off x="762000" y="2614612"/>
            <a:ext cx="2452389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8"/>
          <p:cNvSpPr/>
          <p:nvPr/>
        </p:nvSpPr>
        <p:spPr>
          <a:xfrm>
            <a:off x="3214389" y="2614612"/>
            <a:ext cx="370314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8"/>
          <p:cNvSpPr/>
          <p:nvPr/>
        </p:nvSpPr>
        <p:spPr>
          <a:xfrm>
            <a:off x="6917531" y="2614612"/>
            <a:ext cx="451246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8"/>
          <p:cNvSpPr/>
          <p:nvPr/>
        </p:nvSpPr>
        <p:spPr>
          <a:xfrm>
            <a:off x="762000" y="3138487"/>
            <a:ext cx="2452389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8"/>
          <p:cNvSpPr/>
          <p:nvPr/>
        </p:nvSpPr>
        <p:spPr>
          <a:xfrm>
            <a:off x="3214389" y="3138487"/>
            <a:ext cx="370314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8"/>
          <p:cNvSpPr/>
          <p:nvPr/>
        </p:nvSpPr>
        <p:spPr>
          <a:xfrm>
            <a:off x="6917531" y="3138487"/>
            <a:ext cx="451246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8"/>
          <p:cNvSpPr/>
          <p:nvPr/>
        </p:nvSpPr>
        <p:spPr>
          <a:xfrm>
            <a:off x="762000" y="3662362"/>
            <a:ext cx="2452389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8"/>
          <p:cNvSpPr/>
          <p:nvPr/>
        </p:nvSpPr>
        <p:spPr>
          <a:xfrm>
            <a:off x="3214389" y="3662362"/>
            <a:ext cx="370314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8"/>
          <p:cNvSpPr/>
          <p:nvPr/>
        </p:nvSpPr>
        <p:spPr>
          <a:xfrm>
            <a:off x="6917531" y="3662362"/>
            <a:ext cx="4512468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2DE"/>
        </a:solidFill>
        <a:effectLst/>
      </p:bgPr>
    </p:bg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6477000"/>
            <a:ext cx="109728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9"/>
          <p:cNvSpPr txBox="1"/>
          <p:nvPr/>
        </p:nvSpPr>
        <p:spPr>
          <a:xfrm>
            <a:off x="762000" y="4476750"/>
            <a:ext cx="10668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Tradeoff: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 Gradient Boosting took ~28 minutes to train (vs 11 mins for RF), but delivered significantly better Recall.</a:t>
            </a:r>
            <a:endParaRPr/>
          </a:p>
        </p:txBody>
      </p:sp>
      <p:sp>
        <p:nvSpPr>
          <p:cNvPr id="403" name="Google Shape;403;p29"/>
          <p:cNvSpPr txBox="1"/>
          <p:nvPr/>
        </p:nvSpPr>
        <p:spPr>
          <a:xfrm>
            <a:off x="762000" y="519112"/>
            <a:ext cx="724090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TRAINING EFFICIENCY VS. PERFORMANCE</a:t>
            </a:r>
            <a:endParaRPr/>
          </a:p>
        </p:txBody>
      </p:sp>
      <p:sp>
        <p:nvSpPr>
          <p:cNvPr id="404" name="Google Shape;404;p29"/>
          <p:cNvSpPr txBox="1"/>
          <p:nvPr/>
        </p:nvSpPr>
        <p:spPr>
          <a:xfrm>
            <a:off x="10772775" y="476250"/>
            <a:ext cx="6572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6D98D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/15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2DE"/>
        </a:solidFill>
        <a:effectLst/>
      </p:bgPr>
    </p:bg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6477000"/>
            <a:ext cx="10972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634801"/>
            <a:ext cx="5095875" cy="2507275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0"/>
          <p:cNvSpPr txBox="1"/>
          <p:nvPr/>
        </p:nvSpPr>
        <p:spPr>
          <a:xfrm>
            <a:off x="762000" y="1227788"/>
            <a:ext cx="10668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We used GridSearchCV with 5-fold CV to find the optimal settings.</a:t>
            </a:r>
            <a:endParaRPr/>
          </a:p>
        </p:txBody>
      </p:sp>
      <p:sp>
        <p:nvSpPr>
          <p:cNvPr id="412" name="Google Shape;412;p30"/>
          <p:cNvSpPr txBox="1"/>
          <p:nvPr/>
        </p:nvSpPr>
        <p:spPr>
          <a:xfrm>
            <a:off x="762000" y="519112"/>
            <a:ext cx="4730591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HYPERPARAMETER TUNING</a:t>
            </a:r>
            <a:endParaRPr/>
          </a:p>
        </p:txBody>
      </p:sp>
      <p:sp>
        <p:nvSpPr>
          <p:cNvPr id="413" name="Google Shape;413;p30"/>
          <p:cNvSpPr txBox="1"/>
          <p:nvPr/>
        </p:nvSpPr>
        <p:spPr>
          <a:xfrm>
            <a:off x="10772775" y="476250"/>
            <a:ext cx="6572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6D98D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/16</a:t>
            </a:r>
            <a:endParaRPr/>
          </a:p>
        </p:txBody>
      </p:sp>
      <p:sp>
        <p:nvSpPr>
          <p:cNvPr id="414" name="Google Shape;414;p30"/>
          <p:cNvSpPr txBox="1"/>
          <p:nvPr/>
        </p:nvSpPr>
        <p:spPr>
          <a:xfrm>
            <a:off x="952500" y="1804197"/>
            <a:ext cx="4950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GRADIENT BOOSTING GRID</a:t>
            </a:r>
            <a:endParaRPr/>
          </a:p>
        </p:txBody>
      </p:sp>
      <p:sp>
        <p:nvSpPr>
          <p:cNvPr id="415" name="Google Shape;415;p30"/>
          <p:cNvSpPr txBox="1"/>
          <p:nvPr/>
        </p:nvSpPr>
        <p:spPr>
          <a:xfrm>
            <a:off x="895350" y="2131723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416" name="Google Shape;416;p30"/>
          <p:cNvSpPr txBox="1"/>
          <p:nvPr/>
        </p:nvSpPr>
        <p:spPr>
          <a:xfrm>
            <a:off x="952500" y="2131723"/>
            <a:ext cx="4714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n_estimators: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 [100, 200, 300]</a:t>
            </a:r>
            <a:endParaRPr/>
          </a:p>
        </p:txBody>
      </p:sp>
      <p:sp>
        <p:nvSpPr>
          <p:cNvPr id="417" name="Google Shape;417;p30"/>
          <p:cNvSpPr txBox="1"/>
          <p:nvPr/>
        </p:nvSpPr>
        <p:spPr>
          <a:xfrm>
            <a:off x="901325" y="2377312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418" name="Google Shape;418;p30"/>
          <p:cNvSpPr txBox="1"/>
          <p:nvPr/>
        </p:nvSpPr>
        <p:spPr>
          <a:xfrm>
            <a:off x="958475" y="2377312"/>
            <a:ext cx="4714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learning_rate: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 [0.01, 0.1, 0.2]</a:t>
            </a:r>
            <a:endParaRPr/>
          </a:p>
        </p:txBody>
      </p:sp>
      <p:sp>
        <p:nvSpPr>
          <p:cNvPr id="419" name="Google Shape;419;p30"/>
          <p:cNvSpPr txBox="1"/>
          <p:nvPr/>
        </p:nvSpPr>
        <p:spPr>
          <a:xfrm>
            <a:off x="895350" y="2622876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420" name="Google Shape;420;p30"/>
          <p:cNvSpPr txBox="1"/>
          <p:nvPr/>
        </p:nvSpPr>
        <p:spPr>
          <a:xfrm>
            <a:off x="952500" y="2622876"/>
            <a:ext cx="4714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max_depth: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 [3, 5, 7]</a:t>
            </a:r>
            <a:endParaRPr/>
          </a:p>
        </p:txBody>
      </p:sp>
      <p:sp>
        <p:nvSpPr>
          <p:cNvPr id="421" name="Google Shape;421;p30"/>
          <p:cNvSpPr txBox="1"/>
          <p:nvPr/>
        </p:nvSpPr>
        <p:spPr>
          <a:xfrm>
            <a:off x="872750" y="2868440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422" name="Google Shape;422;p30"/>
          <p:cNvSpPr txBox="1"/>
          <p:nvPr/>
        </p:nvSpPr>
        <p:spPr>
          <a:xfrm>
            <a:off x="929900" y="2868440"/>
            <a:ext cx="4714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subsample: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 [0.8, 1.0]</a:t>
            </a:r>
            <a:endParaRPr/>
          </a:p>
        </p:txBody>
      </p:sp>
      <p:sp>
        <p:nvSpPr>
          <p:cNvPr id="423" name="Google Shape;423;p30"/>
          <p:cNvSpPr txBox="1"/>
          <p:nvPr/>
        </p:nvSpPr>
        <p:spPr>
          <a:xfrm>
            <a:off x="952475" y="3777421"/>
            <a:ext cx="54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Winner:</a:t>
            </a:r>
            <a:endParaRPr/>
          </a:p>
        </p:txBody>
      </p:sp>
      <p:pic>
        <p:nvPicPr>
          <p:cNvPr id="424" name="Google Shape;424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9388" y="4371974"/>
            <a:ext cx="5095875" cy="21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30"/>
          <p:cNvSpPr txBox="1"/>
          <p:nvPr/>
        </p:nvSpPr>
        <p:spPr>
          <a:xfrm>
            <a:off x="929888" y="4514837"/>
            <a:ext cx="4950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SVM (RandomUnderSampler) </a:t>
            </a:r>
            <a:endParaRPr/>
          </a:p>
        </p:txBody>
      </p:sp>
      <p:sp>
        <p:nvSpPr>
          <p:cNvPr id="426" name="Google Shape;426;p30"/>
          <p:cNvSpPr txBox="1"/>
          <p:nvPr/>
        </p:nvSpPr>
        <p:spPr>
          <a:xfrm>
            <a:off x="872738" y="4791062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427" name="Google Shape;427;p30"/>
          <p:cNvSpPr txBox="1"/>
          <p:nvPr/>
        </p:nvSpPr>
        <p:spPr>
          <a:xfrm>
            <a:off x="929888" y="4791062"/>
            <a:ext cx="4714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C</a:t>
            </a: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: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 [1</a:t>
            </a:r>
            <a:r>
              <a:rPr lang="en-US" sz="1350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, 10, 100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]</a:t>
            </a:r>
            <a:endParaRPr/>
          </a:p>
        </p:txBody>
      </p:sp>
      <p:sp>
        <p:nvSpPr>
          <p:cNvPr id="428" name="Google Shape;428;p30"/>
          <p:cNvSpPr txBox="1"/>
          <p:nvPr/>
        </p:nvSpPr>
        <p:spPr>
          <a:xfrm>
            <a:off x="872738" y="5048237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429" name="Google Shape;429;p30"/>
          <p:cNvSpPr txBox="1"/>
          <p:nvPr/>
        </p:nvSpPr>
        <p:spPr>
          <a:xfrm>
            <a:off x="929888" y="5048237"/>
            <a:ext cx="4714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kernel</a:t>
            </a: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: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 [</a:t>
            </a:r>
            <a:r>
              <a:rPr lang="en-US" sz="1350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‘rbf’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]</a:t>
            </a:r>
            <a:endParaRPr/>
          </a:p>
        </p:txBody>
      </p:sp>
      <p:sp>
        <p:nvSpPr>
          <p:cNvPr id="430" name="Google Shape;430;p30"/>
          <p:cNvSpPr txBox="1"/>
          <p:nvPr/>
        </p:nvSpPr>
        <p:spPr>
          <a:xfrm>
            <a:off x="872738" y="5305412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431" name="Google Shape;431;p30"/>
          <p:cNvSpPr txBox="1"/>
          <p:nvPr/>
        </p:nvSpPr>
        <p:spPr>
          <a:xfrm>
            <a:off x="929888" y="5305412"/>
            <a:ext cx="4714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Gamma</a:t>
            </a: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: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 [</a:t>
            </a:r>
            <a:r>
              <a:rPr lang="en-US" sz="1350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“scale” ,  0.01, 0.001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]</a:t>
            </a:r>
            <a:endParaRPr/>
          </a:p>
        </p:txBody>
      </p:sp>
      <p:sp>
        <p:nvSpPr>
          <p:cNvPr id="432" name="Google Shape;432;p30"/>
          <p:cNvSpPr txBox="1"/>
          <p:nvPr/>
        </p:nvSpPr>
        <p:spPr>
          <a:xfrm>
            <a:off x="872738" y="5562587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433" name="Google Shape;433;p30"/>
          <p:cNvSpPr txBox="1"/>
          <p:nvPr/>
        </p:nvSpPr>
        <p:spPr>
          <a:xfrm>
            <a:off x="929888" y="5562587"/>
            <a:ext cx="4714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Class Weight</a:t>
            </a: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: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 [</a:t>
            </a:r>
            <a:r>
              <a:rPr lang="en-US" sz="1350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“Balanced”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]</a:t>
            </a:r>
            <a:endParaRPr/>
          </a:p>
        </p:txBody>
      </p:sp>
      <p:sp>
        <p:nvSpPr>
          <p:cNvPr id="434" name="Google Shape;434;p30"/>
          <p:cNvSpPr txBox="1"/>
          <p:nvPr/>
        </p:nvSpPr>
        <p:spPr>
          <a:xfrm>
            <a:off x="929888" y="6067412"/>
            <a:ext cx="54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Winner:</a:t>
            </a:r>
            <a:endParaRPr/>
          </a:p>
        </p:txBody>
      </p:sp>
      <p:sp>
        <p:nvSpPr>
          <p:cNvPr id="435" name="Google Shape;435;p30"/>
          <p:cNvSpPr txBox="1"/>
          <p:nvPr/>
        </p:nvSpPr>
        <p:spPr>
          <a:xfrm>
            <a:off x="1495497" y="6076925"/>
            <a:ext cx="3480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1, RBF, Gamma 0.001, </a:t>
            </a:r>
            <a:r>
              <a:rPr lang="en-US">
                <a:solidFill>
                  <a:schemeClr val="dk1"/>
                </a:solidFill>
              </a:rPr>
              <a:t>Balanced</a:t>
            </a:r>
            <a:endParaRPr/>
          </a:p>
        </p:txBody>
      </p:sp>
      <p:pic>
        <p:nvPicPr>
          <p:cNvPr id="436" name="Google Shape;436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56475" y="1958212"/>
            <a:ext cx="5095875" cy="21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30"/>
          <p:cNvSpPr txBox="1"/>
          <p:nvPr/>
        </p:nvSpPr>
        <p:spPr>
          <a:xfrm>
            <a:off x="6646975" y="2101075"/>
            <a:ext cx="4950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ADA Boosting</a:t>
            </a:r>
            <a:endParaRPr/>
          </a:p>
        </p:txBody>
      </p:sp>
      <p:sp>
        <p:nvSpPr>
          <p:cNvPr id="438" name="Google Shape;438;p30"/>
          <p:cNvSpPr txBox="1"/>
          <p:nvPr/>
        </p:nvSpPr>
        <p:spPr>
          <a:xfrm>
            <a:off x="6646975" y="2377300"/>
            <a:ext cx="4714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n_estimators: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 [</a:t>
            </a:r>
            <a:r>
              <a:rPr lang="en-US" sz="1350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50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, </a:t>
            </a:r>
            <a:r>
              <a:rPr lang="en-US" sz="1350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1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00, </a:t>
            </a:r>
            <a:r>
              <a:rPr lang="en-US" sz="1350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2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00]</a:t>
            </a:r>
            <a:endParaRPr/>
          </a:p>
        </p:txBody>
      </p:sp>
      <p:sp>
        <p:nvSpPr>
          <p:cNvPr id="439" name="Google Shape;439;p30"/>
          <p:cNvSpPr txBox="1"/>
          <p:nvPr/>
        </p:nvSpPr>
        <p:spPr>
          <a:xfrm>
            <a:off x="6646975" y="2634475"/>
            <a:ext cx="4714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learning_rate: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 [0.01, 0.1, 0.</a:t>
            </a:r>
            <a:r>
              <a:rPr lang="en-US" sz="1350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5. 1.0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]</a:t>
            </a:r>
            <a:endParaRPr/>
          </a:p>
        </p:txBody>
      </p:sp>
      <p:sp>
        <p:nvSpPr>
          <p:cNvPr id="440" name="Google Shape;440;p30"/>
          <p:cNvSpPr txBox="1"/>
          <p:nvPr/>
        </p:nvSpPr>
        <p:spPr>
          <a:xfrm>
            <a:off x="6646975" y="2891650"/>
            <a:ext cx="4714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algorithm</a:t>
            </a: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: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 [</a:t>
            </a:r>
            <a:r>
              <a:rPr lang="en-US" sz="1350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“SAMME”, “SAMME.R”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]</a:t>
            </a:r>
            <a:endParaRPr/>
          </a:p>
        </p:txBody>
      </p:sp>
      <p:sp>
        <p:nvSpPr>
          <p:cNvPr id="441" name="Google Shape;441;p30"/>
          <p:cNvSpPr txBox="1"/>
          <p:nvPr/>
        </p:nvSpPr>
        <p:spPr>
          <a:xfrm>
            <a:off x="6646975" y="3148825"/>
            <a:ext cx="4714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max_depth</a:t>
            </a: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: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 [</a:t>
            </a:r>
            <a:r>
              <a:rPr lang="en-US" sz="1350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1,3,5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]</a:t>
            </a:r>
            <a:endParaRPr/>
          </a:p>
        </p:txBody>
      </p:sp>
      <p:sp>
        <p:nvSpPr>
          <p:cNvPr id="442" name="Google Shape;442;p30"/>
          <p:cNvSpPr txBox="1"/>
          <p:nvPr/>
        </p:nvSpPr>
        <p:spPr>
          <a:xfrm>
            <a:off x="6646975" y="3653650"/>
            <a:ext cx="54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Winner:</a:t>
            </a:r>
            <a:endParaRPr/>
          </a:p>
        </p:txBody>
      </p:sp>
      <p:sp>
        <p:nvSpPr>
          <p:cNvPr id="443" name="Google Shape;443;p30"/>
          <p:cNvSpPr txBox="1"/>
          <p:nvPr/>
        </p:nvSpPr>
        <p:spPr>
          <a:xfrm>
            <a:off x="7189963" y="3663162"/>
            <a:ext cx="471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50, 0.01, SAMME, 1</a:t>
            </a:r>
            <a:endParaRPr/>
          </a:p>
        </p:txBody>
      </p:sp>
      <p:pic>
        <p:nvPicPr>
          <p:cNvPr id="444" name="Google Shape;444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33850" y="4345024"/>
            <a:ext cx="5095875" cy="21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30"/>
          <p:cNvSpPr txBox="1"/>
          <p:nvPr/>
        </p:nvSpPr>
        <p:spPr>
          <a:xfrm>
            <a:off x="6624350" y="4487887"/>
            <a:ext cx="4950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SVM (NoSampling_ClassWeight) </a:t>
            </a:r>
            <a:endParaRPr/>
          </a:p>
        </p:txBody>
      </p:sp>
      <p:sp>
        <p:nvSpPr>
          <p:cNvPr id="446" name="Google Shape;446;p30"/>
          <p:cNvSpPr txBox="1"/>
          <p:nvPr/>
        </p:nvSpPr>
        <p:spPr>
          <a:xfrm>
            <a:off x="6624350" y="4764112"/>
            <a:ext cx="4714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C</a:t>
            </a: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: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 [1</a:t>
            </a:r>
            <a:r>
              <a:rPr lang="en-US" sz="1350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, 10, 100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]</a:t>
            </a:r>
            <a:endParaRPr/>
          </a:p>
        </p:txBody>
      </p:sp>
      <p:sp>
        <p:nvSpPr>
          <p:cNvPr id="447" name="Google Shape;447;p30"/>
          <p:cNvSpPr txBox="1"/>
          <p:nvPr/>
        </p:nvSpPr>
        <p:spPr>
          <a:xfrm>
            <a:off x="6624350" y="5021287"/>
            <a:ext cx="4714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kernel</a:t>
            </a: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: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 [</a:t>
            </a:r>
            <a:r>
              <a:rPr lang="en-US" sz="1350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‘rbf’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]</a:t>
            </a:r>
            <a:endParaRPr/>
          </a:p>
        </p:txBody>
      </p:sp>
      <p:sp>
        <p:nvSpPr>
          <p:cNvPr id="448" name="Google Shape;448;p30"/>
          <p:cNvSpPr txBox="1"/>
          <p:nvPr/>
        </p:nvSpPr>
        <p:spPr>
          <a:xfrm>
            <a:off x="6624350" y="5278462"/>
            <a:ext cx="4714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Gamma</a:t>
            </a: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: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 [</a:t>
            </a:r>
            <a:r>
              <a:rPr lang="en-US" sz="1350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“scale” ,  0.01, 0.001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]</a:t>
            </a:r>
            <a:endParaRPr/>
          </a:p>
        </p:txBody>
      </p:sp>
      <p:sp>
        <p:nvSpPr>
          <p:cNvPr id="449" name="Google Shape;449;p30"/>
          <p:cNvSpPr txBox="1"/>
          <p:nvPr/>
        </p:nvSpPr>
        <p:spPr>
          <a:xfrm>
            <a:off x="6624350" y="5535637"/>
            <a:ext cx="4714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Class Weight</a:t>
            </a: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: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 [</a:t>
            </a:r>
            <a:r>
              <a:rPr lang="en-US" sz="1350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“Balanced”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]</a:t>
            </a:r>
            <a:endParaRPr/>
          </a:p>
        </p:txBody>
      </p:sp>
      <p:sp>
        <p:nvSpPr>
          <p:cNvPr id="450" name="Google Shape;450;p30"/>
          <p:cNvSpPr txBox="1"/>
          <p:nvPr/>
        </p:nvSpPr>
        <p:spPr>
          <a:xfrm>
            <a:off x="6624350" y="6040462"/>
            <a:ext cx="54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Winner:</a:t>
            </a:r>
            <a:endParaRPr/>
          </a:p>
        </p:txBody>
      </p:sp>
      <p:sp>
        <p:nvSpPr>
          <p:cNvPr id="451" name="Google Shape;451;p30"/>
          <p:cNvSpPr txBox="1"/>
          <p:nvPr/>
        </p:nvSpPr>
        <p:spPr>
          <a:xfrm>
            <a:off x="7189959" y="6049975"/>
            <a:ext cx="3480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1, RBF, Gamma 0.001, </a:t>
            </a:r>
            <a:r>
              <a:rPr lang="en-US">
                <a:solidFill>
                  <a:schemeClr val="dk1"/>
                </a:solidFill>
              </a:rPr>
              <a:t>Balanced</a:t>
            </a:r>
            <a:endParaRPr/>
          </a:p>
        </p:txBody>
      </p:sp>
      <p:sp>
        <p:nvSpPr>
          <p:cNvPr id="452" name="Google Shape;452;p30"/>
          <p:cNvSpPr txBox="1"/>
          <p:nvPr/>
        </p:nvSpPr>
        <p:spPr>
          <a:xfrm>
            <a:off x="1618575" y="3759264"/>
            <a:ext cx="4714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100, 0.01, 3, 0.8, 1.0, 2</a:t>
            </a:r>
            <a:endParaRPr/>
          </a:p>
        </p:txBody>
      </p:sp>
      <p:sp>
        <p:nvSpPr>
          <p:cNvPr id="453" name="Google Shape;453;p30"/>
          <p:cNvSpPr txBox="1"/>
          <p:nvPr/>
        </p:nvSpPr>
        <p:spPr>
          <a:xfrm>
            <a:off x="862350" y="3114017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454" name="Google Shape;454;p30"/>
          <p:cNvSpPr txBox="1"/>
          <p:nvPr/>
        </p:nvSpPr>
        <p:spPr>
          <a:xfrm>
            <a:off x="919500" y="3114017"/>
            <a:ext cx="4714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min_sample_leaf</a:t>
            </a: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: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 [0.8, 1.0]</a:t>
            </a:r>
            <a:endParaRPr/>
          </a:p>
        </p:txBody>
      </p:sp>
      <p:sp>
        <p:nvSpPr>
          <p:cNvPr id="455" name="Google Shape;455;p30"/>
          <p:cNvSpPr txBox="1"/>
          <p:nvPr/>
        </p:nvSpPr>
        <p:spPr>
          <a:xfrm>
            <a:off x="849825" y="3359592"/>
            <a:ext cx="573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456" name="Google Shape;456;p30"/>
          <p:cNvSpPr txBox="1"/>
          <p:nvPr/>
        </p:nvSpPr>
        <p:spPr>
          <a:xfrm>
            <a:off x="906975" y="3359592"/>
            <a:ext cx="4714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min_sample_split</a:t>
            </a: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: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 [</a:t>
            </a:r>
            <a:r>
              <a:rPr lang="en-US" sz="1350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2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, </a:t>
            </a:r>
            <a:r>
              <a:rPr lang="en-US" sz="1350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5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]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2DE"/>
        </a:solidFill>
        <a:effectLst/>
      </p:bgPr>
    </p:bg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Google Shape;461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6477000"/>
            <a:ext cx="10972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619250"/>
            <a:ext cx="3365450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1619250"/>
            <a:ext cx="3365450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1619250"/>
            <a:ext cx="3365599" cy="1857375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31"/>
          <p:cNvSpPr txBox="1"/>
          <p:nvPr/>
        </p:nvSpPr>
        <p:spPr>
          <a:xfrm>
            <a:off x="762000" y="519112"/>
            <a:ext cx="3860482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EVALUATION METRICS</a:t>
            </a:r>
            <a:endParaRPr/>
          </a:p>
        </p:txBody>
      </p:sp>
      <p:sp>
        <p:nvSpPr>
          <p:cNvPr id="466" name="Google Shape;466;p31"/>
          <p:cNvSpPr txBox="1"/>
          <p:nvPr/>
        </p:nvSpPr>
        <p:spPr>
          <a:xfrm>
            <a:off x="10772775" y="476250"/>
            <a:ext cx="6572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6D98D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/17</a:t>
            </a:r>
            <a:endParaRPr/>
          </a:p>
        </p:txBody>
      </p:sp>
      <p:sp>
        <p:nvSpPr>
          <p:cNvPr id="467" name="Google Shape;467;p31"/>
          <p:cNvSpPr txBox="1"/>
          <p:nvPr/>
        </p:nvSpPr>
        <p:spPr>
          <a:xfrm>
            <a:off x="1047750" y="1962150"/>
            <a:ext cx="293364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RECALL (SENSITIVITY)</a:t>
            </a:r>
            <a:endParaRPr/>
          </a:p>
        </p:txBody>
      </p:sp>
      <p:sp>
        <p:nvSpPr>
          <p:cNvPr id="468" name="Google Shape;468;p31"/>
          <p:cNvSpPr txBox="1"/>
          <p:nvPr/>
        </p:nvSpPr>
        <p:spPr>
          <a:xfrm>
            <a:off x="1047750" y="2324100"/>
            <a:ext cx="27939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"Of all the actual fraud, how much did we find?"</a:t>
            </a:r>
            <a:endParaRPr/>
          </a:p>
        </p:txBody>
      </p:sp>
      <p:sp>
        <p:nvSpPr>
          <p:cNvPr id="469" name="Google Shape;469;p31"/>
          <p:cNvSpPr txBox="1"/>
          <p:nvPr/>
        </p:nvSpPr>
        <p:spPr>
          <a:xfrm>
            <a:off x="1047750" y="2933700"/>
            <a:ext cx="27939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Target: MAXIMIZE</a:t>
            </a:r>
            <a:endParaRPr/>
          </a:p>
        </p:txBody>
      </p:sp>
      <p:sp>
        <p:nvSpPr>
          <p:cNvPr id="470" name="Google Shape;470;p31"/>
          <p:cNvSpPr txBox="1"/>
          <p:nvPr/>
        </p:nvSpPr>
        <p:spPr>
          <a:xfrm>
            <a:off x="4698950" y="1962150"/>
            <a:ext cx="293364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PRECISION</a:t>
            </a:r>
            <a:endParaRPr/>
          </a:p>
        </p:txBody>
      </p:sp>
      <p:sp>
        <p:nvSpPr>
          <p:cNvPr id="471" name="Google Shape;471;p31"/>
          <p:cNvSpPr txBox="1"/>
          <p:nvPr/>
        </p:nvSpPr>
        <p:spPr>
          <a:xfrm>
            <a:off x="4698950" y="2324100"/>
            <a:ext cx="27939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"Of all the providers we flagged, how many were actually fraud?"</a:t>
            </a:r>
            <a:endParaRPr/>
          </a:p>
        </p:txBody>
      </p:sp>
      <p:sp>
        <p:nvSpPr>
          <p:cNvPr id="472" name="Google Shape;472;p31"/>
          <p:cNvSpPr txBox="1"/>
          <p:nvPr/>
        </p:nvSpPr>
        <p:spPr>
          <a:xfrm>
            <a:off x="4698950" y="2933700"/>
            <a:ext cx="27939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Target: BALANCE</a:t>
            </a:r>
            <a:endParaRPr/>
          </a:p>
        </p:txBody>
      </p:sp>
      <p:sp>
        <p:nvSpPr>
          <p:cNvPr id="473" name="Google Shape;473;p31"/>
          <p:cNvSpPr txBox="1"/>
          <p:nvPr/>
        </p:nvSpPr>
        <p:spPr>
          <a:xfrm>
            <a:off x="8350150" y="1962150"/>
            <a:ext cx="2933804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PR-AUC</a:t>
            </a:r>
            <a:endParaRPr/>
          </a:p>
        </p:txBody>
      </p:sp>
      <p:sp>
        <p:nvSpPr>
          <p:cNvPr id="474" name="Google Shape;474;p31"/>
          <p:cNvSpPr txBox="1"/>
          <p:nvPr/>
        </p:nvSpPr>
        <p:spPr>
          <a:xfrm>
            <a:off x="8350150" y="2324100"/>
            <a:ext cx="279409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Precision-Recall Area Under Curve.</a:t>
            </a:r>
            <a:endParaRPr/>
          </a:p>
        </p:txBody>
      </p:sp>
      <p:sp>
        <p:nvSpPr>
          <p:cNvPr id="475" name="Google Shape;475;p31"/>
          <p:cNvSpPr txBox="1"/>
          <p:nvPr/>
        </p:nvSpPr>
        <p:spPr>
          <a:xfrm>
            <a:off x="8350150" y="2676525"/>
            <a:ext cx="2794099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Target: Primary Metric for Imbalance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2DE"/>
        </a:solidFill>
        <a:effectLst/>
      </p:bgPr>
    </p:bg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6477000"/>
            <a:ext cx="10972800" cy="190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81" name="Google Shape;481;p32"/>
          <p:cNvGraphicFramePr/>
          <p:nvPr/>
        </p:nvGraphicFramePr>
        <p:xfrm>
          <a:off x="762000" y="1619250"/>
          <a:ext cx="10668000" cy="2057400"/>
        </p:xfrm>
        <a:graphic>
          <a:graphicData uri="http://schemas.openxmlformats.org/drawingml/2006/table">
            <a:tbl>
              <a:tblPr firstRow="1" bandRow="1">
                <a:noFill/>
                <a:tableStyleId>{6BBA4DBE-9566-4F57-AD23-64054DF4D6E3}</a:tableStyleId>
              </a:tblPr>
              <a:tblGrid>
                <a:gridCol w="417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6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Model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387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Recall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387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Precision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387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F1-Score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387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ROC-AUC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38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Gradient Boosting (</a:t>
                      </a:r>
                      <a:r>
                        <a:rPr lang="en-US" sz="1200" b="1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SMOTE</a:t>
                      </a:r>
                      <a:r>
                        <a:rPr lang="en-US" sz="1200" b="1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82</a:t>
                      </a:r>
                      <a:r>
                        <a:rPr lang="en-US" sz="1200" b="1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.</a:t>
                      </a:r>
                      <a:r>
                        <a:rPr lang="en-US" sz="1200" b="1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00</a:t>
                      </a:r>
                      <a:r>
                        <a:rPr lang="en-US" sz="1200" b="1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53.00</a:t>
                      </a:r>
                      <a:r>
                        <a:rPr lang="en-US" sz="1200" b="1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0.</a:t>
                      </a:r>
                      <a:r>
                        <a:rPr lang="en-US" sz="1200" b="1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65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0.</a:t>
                      </a:r>
                      <a:r>
                        <a:rPr lang="en-US" sz="1200" b="1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94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SVM (RandomUnderSampler)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61</a:t>
                      </a: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.</a:t>
                      </a:r>
                      <a:r>
                        <a:rPr lang="en-US" sz="1200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00</a:t>
                      </a: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55</a:t>
                      </a: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.</a:t>
                      </a:r>
                      <a:r>
                        <a:rPr lang="en-US" sz="1200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00</a:t>
                      </a: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0.</a:t>
                      </a:r>
                      <a:r>
                        <a:rPr lang="en-US" sz="1200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58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0.9</a:t>
                      </a:r>
                      <a:r>
                        <a:rPr lang="en-US" sz="1200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AdaBoost(No Resampling)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69.00</a:t>
                      </a: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56.00</a:t>
                      </a: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0.</a:t>
                      </a:r>
                      <a:r>
                        <a:rPr lang="en-US" sz="1200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61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0.</a:t>
                      </a:r>
                      <a:r>
                        <a:rPr lang="en-US" sz="1200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85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2" name="Google Shape;482;p32"/>
          <p:cNvSpPr txBox="1"/>
          <p:nvPr/>
        </p:nvSpPr>
        <p:spPr>
          <a:xfrm>
            <a:off x="762000" y="519112"/>
            <a:ext cx="4710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MODEL RESULTS: TEST SET</a:t>
            </a:r>
            <a:endParaRPr/>
          </a:p>
        </p:txBody>
      </p:sp>
      <p:sp>
        <p:nvSpPr>
          <p:cNvPr id="483" name="Google Shape;483;p32"/>
          <p:cNvSpPr txBox="1"/>
          <p:nvPr/>
        </p:nvSpPr>
        <p:spPr>
          <a:xfrm>
            <a:off x="10772775" y="476250"/>
            <a:ext cx="6572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6D98D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/18</a:t>
            </a:r>
            <a:endParaRPr/>
          </a:p>
        </p:txBody>
      </p:sp>
      <p:sp>
        <p:nvSpPr>
          <p:cNvPr id="484" name="Google Shape;484;p32"/>
          <p:cNvSpPr/>
          <p:nvPr/>
        </p:nvSpPr>
        <p:spPr>
          <a:xfrm>
            <a:off x="762000" y="2614612"/>
            <a:ext cx="4170600" cy="96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32"/>
          <p:cNvSpPr/>
          <p:nvPr/>
        </p:nvSpPr>
        <p:spPr>
          <a:xfrm>
            <a:off x="4932610" y="2614612"/>
            <a:ext cx="1413123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32"/>
          <p:cNvSpPr/>
          <p:nvPr/>
        </p:nvSpPr>
        <p:spPr>
          <a:xfrm>
            <a:off x="6345733" y="2614612"/>
            <a:ext cx="170616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2"/>
          <p:cNvSpPr/>
          <p:nvPr/>
        </p:nvSpPr>
        <p:spPr>
          <a:xfrm>
            <a:off x="8051899" y="2614612"/>
            <a:ext cx="167163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2"/>
          <p:cNvSpPr/>
          <p:nvPr/>
        </p:nvSpPr>
        <p:spPr>
          <a:xfrm>
            <a:off x="9723536" y="2614612"/>
            <a:ext cx="1706463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2"/>
          <p:cNvSpPr/>
          <p:nvPr/>
        </p:nvSpPr>
        <p:spPr>
          <a:xfrm>
            <a:off x="762000" y="3138487"/>
            <a:ext cx="417061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2"/>
          <p:cNvSpPr/>
          <p:nvPr/>
        </p:nvSpPr>
        <p:spPr>
          <a:xfrm>
            <a:off x="4932610" y="3138487"/>
            <a:ext cx="1413123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2"/>
          <p:cNvSpPr/>
          <p:nvPr/>
        </p:nvSpPr>
        <p:spPr>
          <a:xfrm>
            <a:off x="6345733" y="3138487"/>
            <a:ext cx="170616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2"/>
          <p:cNvSpPr/>
          <p:nvPr/>
        </p:nvSpPr>
        <p:spPr>
          <a:xfrm>
            <a:off x="8051899" y="3138487"/>
            <a:ext cx="167163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2"/>
          <p:cNvSpPr/>
          <p:nvPr/>
        </p:nvSpPr>
        <p:spPr>
          <a:xfrm>
            <a:off x="9723536" y="3138487"/>
            <a:ext cx="1706463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32"/>
          <p:cNvSpPr/>
          <p:nvPr/>
        </p:nvSpPr>
        <p:spPr>
          <a:xfrm>
            <a:off x="762000" y="3662362"/>
            <a:ext cx="417061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2"/>
          <p:cNvSpPr/>
          <p:nvPr/>
        </p:nvSpPr>
        <p:spPr>
          <a:xfrm>
            <a:off x="4932610" y="3662362"/>
            <a:ext cx="1413123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32"/>
          <p:cNvSpPr/>
          <p:nvPr/>
        </p:nvSpPr>
        <p:spPr>
          <a:xfrm>
            <a:off x="6345733" y="3662362"/>
            <a:ext cx="170616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2"/>
          <p:cNvSpPr/>
          <p:nvPr/>
        </p:nvSpPr>
        <p:spPr>
          <a:xfrm>
            <a:off x="8051899" y="3662362"/>
            <a:ext cx="167163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32"/>
          <p:cNvSpPr/>
          <p:nvPr/>
        </p:nvSpPr>
        <p:spPr>
          <a:xfrm>
            <a:off x="9723536" y="3662362"/>
            <a:ext cx="1706463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2DE"/>
        </a:solidFill>
        <a:effectLst/>
      </p:bgPr>
    </p:bg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6477000"/>
            <a:ext cx="10972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428750"/>
            <a:ext cx="5095875" cy="49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33"/>
          <p:cNvSpPr txBox="1"/>
          <p:nvPr/>
        </p:nvSpPr>
        <p:spPr>
          <a:xfrm>
            <a:off x="762000" y="519112"/>
            <a:ext cx="4430553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DEEP DIVE: SVM RESULTS</a:t>
            </a:r>
            <a:endParaRPr/>
          </a:p>
        </p:txBody>
      </p:sp>
      <p:sp>
        <p:nvSpPr>
          <p:cNvPr id="506" name="Google Shape;506;p33"/>
          <p:cNvSpPr txBox="1"/>
          <p:nvPr/>
        </p:nvSpPr>
        <p:spPr>
          <a:xfrm>
            <a:off x="10772775" y="476250"/>
            <a:ext cx="6572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6D98D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/19</a:t>
            </a:r>
            <a:endParaRPr/>
          </a:p>
        </p:txBody>
      </p:sp>
      <p:sp>
        <p:nvSpPr>
          <p:cNvPr id="507" name="Google Shape;507;p33"/>
          <p:cNvSpPr txBox="1"/>
          <p:nvPr/>
        </p:nvSpPr>
        <p:spPr>
          <a:xfrm>
            <a:off x="762000" y="2852737"/>
            <a:ext cx="5350668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HIGH RECALL TRAP</a:t>
            </a:r>
            <a:endParaRPr/>
          </a:p>
        </p:txBody>
      </p:sp>
      <p:sp>
        <p:nvSpPr>
          <p:cNvPr id="508" name="Google Shape;508;p33"/>
          <p:cNvSpPr txBox="1"/>
          <p:nvPr/>
        </p:nvSpPr>
        <p:spPr>
          <a:xfrm>
            <a:off x="762000" y="3033712"/>
            <a:ext cx="50958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SVM with RandomUnderSampler achieved an incredible </a:t>
            </a: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92.7% Recall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.</a:t>
            </a:r>
            <a:endParaRPr/>
          </a:p>
        </p:txBody>
      </p:sp>
      <p:sp>
        <p:nvSpPr>
          <p:cNvPr id="509" name="Google Shape;509;p33"/>
          <p:cNvSpPr txBox="1"/>
          <p:nvPr/>
        </p:nvSpPr>
        <p:spPr>
          <a:xfrm>
            <a:off x="762000" y="3738562"/>
            <a:ext cx="50958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However, it achieved this by being "trigger happy".</a:t>
            </a:r>
            <a:endParaRPr/>
          </a:p>
        </p:txBody>
      </p:sp>
      <p:sp>
        <p:nvSpPr>
          <p:cNvPr id="510" name="Google Shape;510;p33"/>
          <p:cNvSpPr txBox="1"/>
          <p:nvPr/>
        </p:nvSpPr>
        <p:spPr>
          <a:xfrm>
            <a:off x="762000" y="4186237"/>
            <a:ext cx="50958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0392B"/>
                </a:solidFill>
                <a:latin typeface="Barlow"/>
                <a:ea typeface="Barlow"/>
                <a:cs typeface="Barlow"/>
                <a:sym typeface="Barlow"/>
              </a:rPr>
              <a:t>Precision: 32%</a:t>
            </a:r>
            <a:endParaRPr/>
          </a:p>
        </p:txBody>
      </p:sp>
      <p:sp>
        <p:nvSpPr>
          <p:cNvPr id="511" name="Google Shape;511;p33"/>
          <p:cNvSpPr txBox="1"/>
          <p:nvPr/>
        </p:nvSpPr>
        <p:spPr>
          <a:xfrm>
            <a:off x="762000" y="4443412"/>
            <a:ext cx="50958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This means for every 3 alerts, 2 are false alarms.</a:t>
            </a:r>
            <a:endParaRPr/>
          </a:p>
        </p:txBody>
      </p:sp>
      <p:sp>
        <p:nvSpPr>
          <p:cNvPr id="512" name="Google Shape;512;p33"/>
          <p:cNvSpPr txBox="1"/>
          <p:nvPr/>
        </p:nvSpPr>
        <p:spPr>
          <a:xfrm>
            <a:off x="762000" y="4700587"/>
            <a:ext cx="50958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Operally unsustainable for manual review teams.</a:t>
            </a:r>
            <a:endParaRPr/>
          </a:p>
        </p:txBody>
      </p:sp>
      <p:sp>
        <p:nvSpPr>
          <p:cNvPr id="513" name="Google Shape;513;p33"/>
          <p:cNvSpPr txBox="1"/>
          <p:nvPr/>
        </p:nvSpPr>
        <p:spPr>
          <a:xfrm>
            <a:off x="8310562" y="2876550"/>
            <a:ext cx="1143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C0392B"/>
                </a:solidFill>
                <a:latin typeface="Barlow"/>
                <a:ea typeface="Barlow"/>
                <a:cs typeface="Barlow"/>
                <a:sym typeface="Barlow"/>
              </a:rPr>
              <a:t>287</a:t>
            </a:r>
            <a:endParaRPr/>
          </a:p>
        </p:txBody>
      </p:sp>
      <p:sp>
        <p:nvSpPr>
          <p:cNvPr id="514" name="Google Shape;514;p33"/>
          <p:cNvSpPr txBox="1"/>
          <p:nvPr/>
        </p:nvSpPr>
        <p:spPr>
          <a:xfrm>
            <a:off x="8310562" y="3562350"/>
            <a:ext cx="1143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False Positives</a:t>
            </a:r>
            <a:endParaRPr/>
          </a:p>
        </p:txBody>
      </p:sp>
      <p:sp>
        <p:nvSpPr>
          <p:cNvPr id="515" name="Google Shape;515;p33"/>
          <p:cNvSpPr/>
          <p:nvPr/>
        </p:nvSpPr>
        <p:spPr>
          <a:xfrm>
            <a:off x="8596312" y="4010025"/>
            <a:ext cx="571500" cy="19050"/>
          </a:xfrm>
          <a:prstGeom prst="rect">
            <a:avLst/>
          </a:prstGeom>
          <a:solidFill>
            <a:srgbClr val="2E36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3"/>
          <p:cNvSpPr txBox="1"/>
          <p:nvPr/>
        </p:nvSpPr>
        <p:spPr>
          <a:xfrm>
            <a:off x="8310562" y="4219575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141</a:t>
            </a:r>
            <a:endParaRPr/>
          </a:p>
        </p:txBody>
      </p:sp>
      <p:sp>
        <p:nvSpPr>
          <p:cNvPr id="517" name="Google Shape;517;p33"/>
          <p:cNvSpPr txBox="1"/>
          <p:nvPr/>
        </p:nvSpPr>
        <p:spPr>
          <a:xfrm>
            <a:off x="8310562" y="4676775"/>
            <a:ext cx="1143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True Positives</a:t>
            </a:r>
            <a:endParaRPr/>
          </a:p>
        </p:txBody>
      </p:sp>
      <p:pic>
        <p:nvPicPr>
          <p:cNvPr id="518" name="Google Shape;518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229100"/>
            <a:ext cx="12382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875"/>
        </a:solidFill>
        <a:effectLst/>
      </p:bgPr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971800"/>
            <a:ext cx="5095875" cy="196215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4"/>
          <p:cNvSpPr txBox="1"/>
          <p:nvPr/>
        </p:nvSpPr>
        <p:spPr>
          <a:xfrm>
            <a:off x="762000" y="523875"/>
            <a:ext cx="443055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CHAMPION: GRADIENT BOOSTING</a:t>
            </a:r>
            <a:endParaRPr/>
          </a:p>
        </p:txBody>
      </p:sp>
      <p:pic>
        <p:nvPicPr>
          <p:cNvPr id="525" name="Google Shape;525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15650" y="476250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4"/>
          <p:cNvSpPr txBox="1"/>
          <p:nvPr/>
        </p:nvSpPr>
        <p:spPr>
          <a:xfrm>
            <a:off x="762000" y="2914650"/>
            <a:ext cx="5350668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6D98D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GOLDILOCKS ZONE</a:t>
            </a:r>
            <a:endParaRPr/>
          </a:p>
        </p:txBody>
      </p:sp>
      <p:sp>
        <p:nvSpPr>
          <p:cNvPr id="527" name="Google Shape;527;p34"/>
          <p:cNvSpPr txBox="1"/>
          <p:nvPr/>
        </p:nvSpPr>
        <p:spPr>
          <a:xfrm>
            <a:off x="762000" y="3314700"/>
            <a:ext cx="5095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GBM offers the optimal trade-off.</a:t>
            </a:r>
            <a:endParaRPr/>
          </a:p>
        </p:txBody>
      </p:sp>
      <p:sp>
        <p:nvSpPr>
          <p:cNvPr id="528" name="Google Shape;528;p34"/>
          <p:cNvSpPr txBox="1"/>
          <p:nvPr/>
        </p:nvSpPr>
        <p:spPr>
          <a:xfrm>
            <a:off x="6726201" y="3352800"/>
            <a:ext cx="4333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6D98D7"/>
                </a:solidFill>
                <a:latin typeface="Barlow"/>
                <a:ea typeface="Barlow"/>
                <a:cs typeface="Barlow"/>
                <a:sym typeface="Barlow"/>
              </a:rPr>
              <a:t>0.9</a:t>
            </a:r>
            <a:r>
              <a:rPr lang="en-US" sz="6000" b="1">
                <a:solidFill>
                  <a:srgbClr val="6D98D7"/>
                </a:solidFill>
                <a:latin typeface="Barlow"/>
                <a:ea typeface="Barlow"/>
                <a:cs typeface="Barlow"/>
                <a:sym typeface="Barlow"/>
              </a:rPr>
              <a:t>4</a:t>
            </a:r>
            <a:endParaRPr/>
          </a:p>
        </p:txBody>
      </p:sp>
      <p:sp>
        <p:nvSpPr>
          <p:cNvPr id="529" name="Google Shape;529;p34"/>
          <p:cNvSpPr txBox="1"/>
          <p:nvPr/>
        </p:nvSpPr>
        <p:spPr>
          <a:xfrm>
            <a:off x="6715125" y="4267200"/>
            <a:ext cx="4333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ROC-AUC Score</a:t>
            </a:r>
            <a:endParaRPr/>
          </a:p>
        </p:txBody>
      </p:sp>
      <p:sp>
        <p:nvSpPr>
          <p:cNvPr id="530" name="Google Shape;530;p34"/>
          <p:cNvSpPr txBox="1"/>
          <p:nvPr/>
        </p:nvSpPr>
        <p:spPr>
          <a:xfrm>
            <a:off x="762000" y="3790950"/>
            <a:ext cx="5095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82.00</a:t>
            </a:r>
            <a:r>
              <a:rPr lang="en-US" sz="1350" b="1" i="0" u="none" strike="noStrike" cap="non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% Recall:</a:t>
            </a:r>
            <a:r>
              <a:rPr lang="en-US" sz="1350" b="0" i="0" u="none" strike="noStrike" cap="non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Misses very few frauds.</a:t>
            </a:r>
            <a:endParaRPr/>
          </a:p>
        </p:txBody>
      </p:sp>
      <p:sp>
        <p:nvSpPr>
          <p:cNvPr id="531" name="Google Shape;531;p34"/>
          <p:cNvSpPr txBox="1"/>
          <p:nvPr/>
        </p:nvSpPr>
        <p:spPr>
          <a:xfrm>
            <a:off x="762000" y="4191000"/>
            <a:ext cx="5095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53</a:t>
            </a:r>
            <a:r>
              <a:rPr lang="en-US" sz="1350" b="1" i="0" u="none" strike="noStrike" cap="non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% Precision:</a:t>
            </a:r>
            <a:r>
              <a:rPr lang="en-US" sz="1350" b="0" i="0" u="none" strike="noStrike" cap="non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1 in 2 alerts is real.</a:t>
            </a:r>
            <a:endParaRPr/>
          </a:p>
        </p:txBody>
      </p:sp>
      <p:sp>
        <p:nvSpPr>
          <p:cNvPr id="532" name="Google Shape;532;p34"/>
          <p:cNvSpPr txBox="1"/>
          <p:nvPr/>
        </p:nvSpPr>
        <p:spPr>
          <a:xfrm>
            <a:off x="762000" y="4591050"/>
            <a:ext cx="5095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0.65</a:t>
            </a:r>
            <a:r>
              <a:rPr lang="en-US" sz="1350" b="1" i="0" u="none" strike="noStrike" cap="non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F1-Score:</a:t>
            </a:r>
            <a:r>
              <a:rPr lang="en-US" sz="1350" b="0" i="0" u="none" strike="noStrike" cap="non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Highest harmonic mean.</a:t>
            </a:r>
            <a:endParaRPr/>
          </a:p>
        </p:txBody>
      </p:sp>
      <p:pic>
        <p:nvPicPr>
          <p:cNvPr id="533" name="Google Shape;533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83381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23386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633912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2DE"/>
        </a:solidFill>
        <a:effectLst/>
      </p:bgPr>
    </p:bg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Google Shape;540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6477000"/>
            <a:ext cx="10972800" cy="190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41" name="Google Shape;541;p35"/>
          <p:cNvGraphicFramePr/>
          <p:nvPr/>
        </p:nvGraphicFramePr>
        <p:xfrm>
          <a:off x="762000" y="1619250"/>
          <a:ext cx="10667975" cy="2571750"/>
        </p:xfrm>
        <a:graphic>
          <a:graphicData uri="http://schemas.openxmlformats.org/drawingml/2006/table">
            <a:tbl>
              <a:tblPr firstRow="1" bandRow="1">
                <a:noFill/>
                <a:tableStyleId>{6BBA4DBE-9566-4F57-AD23-64054DF4D6E3}</a:tableStyleId>
              </a:tblPr>
              <a:tblGrid>
                <a:gridCol w="104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0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4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4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Rank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387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Feature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387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Importance Score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387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FFFFF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Interpretation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38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ClaimDurationDays_max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0.812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Length of stay is the #1 signal.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DiagnosisGroup_Unique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0.188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Complexity of cases billed.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Inpatient_Std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0.044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Consistency of billing patterns.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Coverage_PartB_Std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0.039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2E364B"/>
                          </a:solidFill>
                          <a:latin typeface="Barlow"/>
                          <a:ea typeface="Barlow"/>
                          <a:cs typeface="Barlow"/>
                          <a:sym typeface="Barlow"/>
                        </a:rPr>
                        <a:t>Patient insurance variance.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42" name="Google Shape;542;p35"/>
          <p:cNvSpPr txBox="1"/>
          <p:nvPr/>
        </p:nvSpPr>
        <p:spPr>
          <a:xfrm>
            <a:off x="762000" y="519112"/>
            <a:ext cx="4490561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DRIVERS OF FRAUD (GBM)</a:t>
            </a:r>
            <a:endParaRPr/>
          </a:p>
        </p:txBody>
      </p:sp>
      <p:sp>
        <p:nvSpPr>
          <p:cNvPr id="543" name="Google Shape;543;p35"/>
          <p:cNvSpPr txBox="1"/>
          <p:nvPr/>
        </p:nvSpPr>
        <p:spPr>
          <a:xfrm>
            <a:off x="10772775" y="476250"/>
            <a:ext cx="6572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6D98D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/22</a:t>
            </a:r>
            <a:endParaRPr/>
          </a:p>
        </p:txBody>
      </p:sp>
      <p:sp>
        <p:nvSpPr>
          <p:cNvPr id="544" name="Google Shape;544;p35"/>
          <p:cNvSpPr/>
          <p:nvPr/>
        </p:nvSpPr>
        <p:spPr>
          <a:xfrm>
            <a:off x="762000" y="2614612"/>
            <a:ext cx="104611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35"/>
          <p:cNvSpPr/>
          <p:nvPr/>
        </p:nvSpPr>
        <p:spPr>
          <a:xfrm>
            <a:off x="1808112" y="2614612"/>
            <a:ext cx="317018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5"/>
          <p:cNvSpPr/>
          <p:nvPr/>
        </p:nvSpPr>
        <p:spPr>
          <a:xfrm>
            <a:off x="4978300" y="2614612"/>
            <a:ext cx="2504479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35"/>
          <p:cNvSpPr/>
          <p:nvPr/>
        </p:nvSpPr>
        <p:spPr>
          <a:xfrm>
            <a:off x="7482780" y="2614612"/>
            <a:ext cx="3947219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35"/>
          <p:cNvSpPr/>
          <p:nvPr/>
        </p:nvSpPr>
        <p:spPr>
          <a:xfrm>
            <a:off x="762000" y="3138487"/>
            <a:ext cx="104611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35"/>
          <p:cNvSpPr/>
          <p:nvPr/>
        </p:nvSpPr>
        <p:spPr>
          <a:xfrm>
            <a:off x="1808112" y="3138487"/>
            <a:ext cx="317018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5"/>
          <p:cNvSpPr/>
          <p:nvPr/>
        </p:nvSpPr>
        <p:spPr>
          <a:xfrm>
            <a:off x="4978300" y="3138487"/>
            <a:ext cx="2504479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5"/>
          <p:cNvSpPr/>
          <p:nvPr/>
        </p:nvSpPr>
        <p:spPr>
          <a:xfrm>
            <a:off x="7482780" y="3138487"/>
            <a:ext cx="3947219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35"/>
          <p:cNvSpPr/>
          <p:nvPr/>
        </p:nvSpPr>
        <p:spPr>
          <a:xfrm>
            <a:off x="762000" y="3662362"/>
            <a:ext cx="104611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5"/>
          <p:cNvSpPr/>
          <p:nvPr/>
        </p:nvSpPr>
        <p:spPr>
          <a:xfrm>
            <a:off x="1808112" y="3662362"/>
            <a:ext cx="317018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35"/>
          <p:cNvSpPr/>
          <p:nvPr/>
        </p:nvSpPr>
        <p:spPr>
          <a:xfrm>
            <a:off x="4978300" y="3662362"/>
            <a:ext cx="2504479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35"/>
          <p:cNvSpPr/>
          <p:nvPr/>
        </p:nvSpPr>
        <p:spPr>
          <a:xfrm>
            <a:off x="7482780" y="3662362"/>
            <a:ext cx="3947219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2DE"/>
        </a:solidFill>
        <a:effectLst/>
      </p:bgPr>
    </p:bg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0" name="Google Shape;560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6477000"/>
            <a:ext cx="10972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619250"/>
            <a:ext cx="5238750" cy="153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1619250"/>
            <a:ext cx="5238750" cy="153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343275"/>
            <a:ext cx="5238750" cy="153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3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0" y="3343275"/>
            <a:ext cx="5238750" cy="1533525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36"/>
          <p:cNvSpPr txBox="1"/>
          <p:nvPr/>
        </p:nvSpPr>
        <p:spPr>
          <a:xfrm>
            <a:off x="762000" y="519112"/>
            <a:ext cx="462057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FINAL CONFUSION MATRIX</a:t>
            </a:r>
            <a:endParaRPr/>
          </a:p>
        </p:txBody>
      </p:sp>
      <p:sp>
        <p:nvSpPr>
          <p:cNvPr id="566" name="Google Shape;566;p36"/>
          <p:cNvSpPr txBox="1"/>
          <p:nvPr/>
        </p:nvSpPr>
        <p:spPr>
          <a:xfrm>
            <a:off x="10772775" y="476250"/>
            <a:ext cx="6572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6D98D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/23</a:t>
            </a:r>
            <a:endParaRPr/>
          </a:p>
        </p:txBody>
      </p:sp>
      <p:sp>
        <p:nvSpPr>
          <p:cNvPr id="567" name="Google Shape;567;p36"/>
          <p:cNvSpPr txBox="1"/>
          <p:nvPr/>
        </p:nvSpPr>
        <p:spPr>
          <a:xfrm>
            <a:off x="1143000" y="2000250"/>
            <a:ext cx="4476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1360</a:t>
            </a:r>
            <a:endParaRPr/>
          </a:p>
        </p:txBody>
      </p:sp>
      <p:sp>
        <p:nvSpPr>
          <p:cNvPr id="568" name="Google Shape;568;p36"/>
          <p:cNvSpPr txBox="1"/>
          <p:nvPr/>
        </p:nvSpPr>
        <p:spPr>
          <a:xfrm>
            <a:off x="1143000" y="2552700"/>
            <a:ext cx="44767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True Negative (Clean)</a:t>
            </a:r>
            <a:endParaRPr/>
          </a:p>
        </p:txBody>
      </p:sp>
      <p:sp>
        <p:nvSpPr>
          <p:cNvPr id="569" name="Google Shape;569;p36"/>
          <p:cNvSpPr txBox="1"/>
          <p:nvPr/>
        </p:nvSpPr>
        <p:spPr>
          <a:xfrm>
            <a:off x="6591300" y="2019300"/>
            <a:ext cx="4438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C0392B"/>
                </a:solidFill>
                <a:latin typeface="Barlow"/>
                <a:ea typeface="Barlow"/>
                <a:cs typeface="Barlow"/>
                <a:sym typeface="Barlow"/>
              </a:rPr>
              <a:t>111</a:t>
            </a:r>
            <a:endParaRPr/>
          </a:p>
        </p:txBody>
      </p:sp>
      <p:sp>
        <p:nvSpPr>
          <p:cNvPr id="570" name="Google Shape;570;p36"/>
          <p:cNvSpPr txBox="1"/>
          <p:nvPr/>
        </p:nvSpPr>
        <p:spPr>
          <a:xfrm>
            <a:off x="6591300" y="2571750"/>
            <a:ext cx="44386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False Positive (False Alarm)</a:t>
            </a:r>
            <a:endParaRPr/>
          </a:p>
        </p:txBody>
      </p:sp>
      <p:sp>
        <p:nvSpPr>
          <p:cNvPr id="571" name="Google Shape;571;p36"/>
          <p:cNvSpPr txBox="1"/>
          <p:nvPr/>
        </p:nvSpPr>
        <p:spPr>
          <a:xfrm>
            <a:off x="1162050" y="3743325"/>
            <a:ext cx="4438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C0392B"/>
                </a:solidFill>
                <a:latin typeface="Barlow"/>
                <a:ea typeface="Barlow"/>
                <a:cs typeface="Barlow"/>
                <a:sym typeface="Barlow"/>
              </a:rPr>
              <a:t>26</a:t>
            </a:r>
            <a:endParaRPr/>
          </a:p>
        </p:txBody>
      </p:sp>
      <p:sp>
        <p:nvSpPr>
          <p:cNvPr id="572" name="Google Shape;572;p36"/>
          <p:cNvSpPr txBox="1"/>
          <p:nvPr/>
        </p:nvSpPr>
        <p:spPr>
          <a:xfrm>
            <a:off x="1162050" y="4295775"/>
            <a:ext cx="44386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False Negative (Missed)</a:t>
            </a:r>
            <a:endParaRPr/>
          </a:p>
        </p:txBody>
      </p:sp>
      <p:sp>
        <p:nvSpPr>
          <p:cNvPr id="573" name="Google Shape;573;p36"/>
          <p:cNvSpPr txBox="1"/>
          <p:nvPr/>
        </p:nvSpPr>
        <p:spPr>
          <a:xfrm>
            <a:off x="6591300" y="3743325"/>
            <a:ext cx="4438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27AE60"/>
                </a:solidFill>
                <a:latin typeface="Barlow"/>
                <a:ea typeface="Barlow"/>
                <a:cs typeface="Barlow"/>
                <a:sym typeface="Barlow"/>
              </a:rPr>
              <a:t>126</a:t>
            </a:r>
            <a:endParaRPr/>
          </a:p>
        </p:txBody>
      </p:sp>
      <p:sp>
        <p:nvSpPr>
          <p:cNvPr id="574" name="Google Shape;574;p36"/>
          <p:cNvSpPr txBox="1"/>
          <p:nvPr/>
        </p:nvSpPr>
        <p:spPr>
          <a:xfrm>
            <a:off x="6591300" y="4295775"/>
            <a:ext cx="44386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True Positive (Caught)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2DE"/>
        </a:solidFill>
        <a:effectLst/>
      </p:bgPr>
    </p:bg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" name="Google Shape;579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6477000"/>
            <a:ext cx="10972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157537"/>
            <a:ext cx="5095875" cy="1495425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37"/>
          <p:cNvSpPr txBox="1"/>
          <p:nvPr/>
        </p:nvSpPr>
        <p:spPr>
          <a:xfrm>
            <a:off x="762000" y="519112"/>
            <a:ext cx="615076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ERROR ANALYSIS: FALSE POSITIVES</a:t>
            </a:r>
            <a:endParaRPr/>
          </a:p>
        </p:txBody>
      </p:sp>
      <p:sp>
        <p:nvSpPr>
          <p:cNvPr id="582" name="Google Shape;582;p37"/>
          <p:cNvSpPr txBox="1"/>
          <p:nvPr/>
        </p:nvSpPr>
        <p:spPr>
          <a:xfrm>
            <a:off x="10772775" y="476250"/>
            <a:ext cx="6572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6D98D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/24</a:t>
            </a:r>
            <a:endParaRPr/>
          </a:p>
        </p:txBody>
      </p:sp>
      <p:sp>
        <p:nvSpPr>
          <p:cNvPr id="583" name="Google Shape;583;p37"/>
          <p:cNvSpPr txBox="1"/>
          <p:nvPr/>
        </p:nvSpPr>
        <p:spPr>
          <a:xfrm>
            <a:off x="1047750" y="3490912"/>
            <a:ext cx="4750593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"TEACHING HOSPITAL" EFFECT</a:t>
            </a:r>
            <a:endParaRPr/>
          </a:p>
        </p:txBody>
      </p:sp>
      <p:sp>
        <p:nvSpPr>
          <p:cNvPr id="584" name="Google Shape;584;p37"/>
          <p:cNvSpPr txBox="1"/>
          <p:nvPr/>
        </p:nvSpPr>
        <p:spPr>
          <a:xfrm>
            <a:off x="1047750" y="3852862"/>
            <a:ext cx="45243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We flagged </a:t>
            </a:r>
            <a:r>
              <a:rPr lang="en-US" sz="1350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111 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legitimate providers. Upon review, many were large urban teaching hospitals.</a:t>
            </a:r>
            <a:endParaRPr/>
          </a:p>
        </p:txBody>
      </p:sp>
      <p:sp>
        <p:nvSpPr>
          <p:cNvPr id="585" name="Google Shape;585;p37"/>
          <p:cNvSpPr txBox="1"/>
          <p:nvPr/>
        </p:nvSpPr>
        <p:spPr>
          <a:xfrm>
            <a:off x="6334125" y="2838450"/>
            <a:ext cx="5350668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E364B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WHY?</a:t>
            </a:r>
            <a:endParaRPr/>
          </a:p>
        </p:txBody>
      </p:sp>
      <p:sp>
        <p:nvSpPr>
          <p:cNvPr id="586" name="Google Shape;586;p37"/>
          <p:cNvSpPr txBox="1"/>
          <p:nvPr/>
        </p:nvSpPr>
        <p:spPr>
          <a:xfrm>
            <a:off x="6334125" y="4714875"/>
            <a:ext cx="50958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Fix: Normalize features by Bed Count.</a:t>
            </a:r>
            <a:endParaRPr/>
          </a:p>
        </p:txBody>
      </p:sp>
      <p:sp>
        <p:nvSpPr>
          <p:cNvPr id="587" name="Google Shape;587;p37"/>
          <p:cNvSpPr txBox="1"/>
          <p:nvPr/>
        </p:nvSpPr>
        <p:spPr>
          <a:xfrm>
            <a:off x="6276975" y="320992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588" name="Google Shape;588;p37"/>
          <p:cNvSpPr txBox="1"/>
          <p:nvPr/>
        </p:nvSpPr>
        <p:spPr>
          <a:xfrm>
            <a:off x="6334125" y="3209925"/>
            <a:ext cx="50958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They see the sickest patients (High Diagnosis Count).</a:t>
            </a:r>
            <a:endParaRPr/>
          </a:p>
        </p:txBody>
      </p:sp>
      <p:sp>
        <p:nvSpPr>
          <p:cNvPr id="589" name="Google Shape;589;p37"/>
          <p:cNvSpPr txBox="1"/>
          <p:nvPr/>
        </p:nvSpPr>
        <p:spPr>
          <a:xfrm>
            <a:off x="6276975" y="360997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590" name="Google Shape;590;p37"/>
          <p:cNvSpPr txBox="1"/>
          <p:nvPr/>
        </p:nvSpPr>
        <p:spPr>
          <a:xfrm>
            <a:off x="6334125" y="3609975"/>
            <a:ext cx="50958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They perform complex surgeries (High Reimbursement).</a:t>
            </a:r>
            <a:endParaRPr/>
          </a:p>
        </p:txBody>
      </p:sp>
      <p:sp>
        <p:nvSpPr>
          <p:cNvPr id="591" name="Google Shape;591;p37"/>
          <p:cNvSpPr txBox="1"/>
          <p:nvPr/>
        </p:nvSpPr>
        <p:spPr>
          <a:xfrm>
            <a:off x="6276975" y="4010025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592" name="Google Shape;592;p37"/>
          <p:cNvSpPr txBox="1"/>
          <p:nvPr/>
        </p:nvSpPr>
        <p:spPr>
          <a:xfrm>
            <a:off x="6334125" y="4010025"/>
            <a:ext cx="50958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They look "anomalous" compared to a small clinic, but are legitimate.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2DE"/>
        </a:solidFill>
        <a:effectLst/>
      </p:bgPr>
    </p:bg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7" name="Google Shape;597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6477000"/>
            <a:ext cx="109728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157537"/>
            <a:ext cx="5095875" cy="1495425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38"/>
          <p:cNvSpPr txBox="1"/>
          <p:nvPr/>
        </p:nvSpPr>
        <p:spPr>
          <a:xfrm>
            <a:off x="762000" y="519112"/>
            <a:ext cx="6280785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ERROR ANALYSIS: FALSE NEGATIVES</a:t>
            </a:r>
            <a:endParaRPr/>
          </a:p>
        </p:txBody>
      </p:sp>
      <p:sp>
        <p:nvSpPr>
          <p:cNvPr id="600" name="Google Shape;600;p38"/>
          <p:cNvSpPr txBox="1"/>
          <p:nvPr/>
        </p:nvSpPr>
        <p:spPr>
          <a:xfrm>
            <a:off x="10772775" y="476250"/>
            <a:ext cx="6572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6D98D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/25</a:t>
            </a:r>
            <a:endParaRPr/>
          </a:p>
        </p:txBody>
      </p:sp>
      <p:sp>
        <p:nvSpPr>
          <p:cNvPr id="601" name="Google Shape;601;p38"/>
          <p:cNvSpPr txBox="1"/>
          <p:nvPr/>
        </p:nvSpPr>
        <p:spPr>
          <a:xfrm>
            <a:off x="1047750" y="3490912"/>
            <a:ext cx="4750593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"FLYING UNDER RADAR" EFFECT</a:t>
            </a:r>
            <a:endParaRPr/>
          </a:p>
        </p:txBody>
      </p:sp>
      <p:sp>
        <p:nvSpPr>
          <p:cNvPr id="602" name="Google Shape;602;p38"/>
          <p:cNvSpPr txBox="1"/>
          <p:nvPr/>
        </p:nvSpPr>
        <p:spPr>
          <a:xfrm>
            <a:off x="1047750" y="3852862"/>
            <a:ext cx="45243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We missed </a:t>
            </a:r>
            <a:r>
              <a:rPr lang="en-US" sz="1350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26 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fraud cases. These providers had average billing amounts and normal durations.</a:t>
            </a:r>
            <a:endParaRPr/>
          </a:p>
        </p:txBody>
      </p:sp>
      <p:sp>
        <p:nvSpPr>
          <p:cNvPr id="603" name="Google Shape;603;p38"/>
          <p:cNvSpPr txBox="1"/>
          <p:nvPr/>
        </p:nvSpPr>
        <p:spPr>
          <a:xfrm>
            <a:off x="6334125" y="3038475"/>
            <a:ext cx="5350668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E364B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WHY?</a:t>
            </a:r>
            <a:endParaRPr/>
          </a:p>
        </p:txBody>
      </p:sp>
      <p:sp>
        <p:nvSpPr>
          <p:cNvPr id="604" name="Google Shape;604;p38"/>
          <p:cNvSpPr txBox="1"/>
          <p:nvPr/>
        </p:nvSpPr>
        <p:spPr>
          <a:xfrm>
            <a:off x="6334125" y="4514850"/>
            <a:ext cx="50958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Fix: Network Graph Analysis (Provider-Provider links).</a:t>
            </a:r>
            <a:endParaRPr/>
          </a:p>
        </p:txBody>
      </p:sp>
      <p:sp>
        <p:nvSpPr>
          <p:cNvPr id="605" name="Google Shape;605;p38"/>
          <p:cNvSpPr txBox="1"/>
          <p:nvPr/>
        </p:nvSpPr>
        <p:spPr>
          <a:xfrm>
            <a:off x="6276975" y="340995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606" name="Google Shape;606;p38"/>
          <p:cNvSpPr txBox="1"/>
          <p:nvPr/>
        </p:nvSpPr>
        <p:spPr>
          <a:xfrm>
            <a:off x="6334125" y="3409950"/>
            <a:ext cx="50958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They likely commit fraud via </a:t>
            </a: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Kickbacks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 or </a:t>
            </a: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Referral Schemes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.</a:t>
            </a:r>
            <a:endParaRPr/>
          </a:p>
        </p:txBody>
      </p:sp>
      <p:sp>
        <p:nvSpPr>
          <p:cNvPr id="607" name="Google Shape;607;p38"/>
          <p:cNvSpPr txBox="1"/>
          <p:nvPr/>
        </p:nvSpPr>
        <p:spPr>
          <a:xfrm>
            <a:off x="6276975" y="3810000"/>
            <a:ext cx="57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•</a:t>
            </a:r>
            <a:endParaRPr/>
          </a:p>
        </p:txBody>
      </p:sp>
      <p:sp>
        <p:nvSpPr>
          <p:cNvPr id="608" name="Google Shape;608;p38"/>
          <p:cNvSpPr txBox="1"/>
          <p:nvPr/>
        </p:nvSpPr>
        <p:spPr>
          <a:xfrm>
            <a:off x="6334125" y="3810000"/>
            <a:ext cx="50958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These schemes do not show up in transactional metadata (length of stay, cost).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3875"/>
        </a:solidFill>
        <a:effectLst/>
      </p:bgPr>
    </p:bg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3" name="Google Shape;613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619250"/>
            <a:ext cx="336545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3200" y="1619250"/>
            <a:ext cx="336545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64400" y="1619250"/>
            <a:ext cx="3365599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39"/>
          <p:cNvSpPr txBox="1"/>
          <p:nvPr/>
        </p:nvSpPr>
        <p:spPr>
          <a:xfrm>
            <a:off x="762000" y="519112"/>
            <a:ext cx="239029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ROI ANALYSIS</a:t>
            </a:r>
            <a:endParaRPr/>
          </a:p>
        </p:txBody>
      </p:sp>
      <p:sp>
        <p:nvSpPr>
          <p:cNvPr id="617" name="Google Shape;617;p39"/>
          <p:cNvSpPr txBox="1"/>
          <p:nvPr/>
        </p:nvSpPr>
        <p:spPr>
          <a:xfrm>
            <a:off x="10772775" y="476250"/>
            <a:ext cx="6572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6D98D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/26</a:t>
            </a:r>
            <a:endParaRPr/>
          </a:p>
        </p:txBody>
      </p:sp>
      <p:pic>
        <p:nvPicPr>
          <p:cNvPr id="618" name="Google Shape;618;p3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54150" y="19621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39"/>
          <p:cNvSpPr txBox="1"/>
          <p:nvPr/>
        </p:nvSpPr>
        <p:spPr>
          <a:xfrm>
            <a:off x="977901" y="2486025"/>
            <a:ext cx="293364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COST AVOIDANCE</a:t>
            </a:r>
            <a:endParaRPr/>
          </a:p>
        </p:txBody>
      </p:sp>
      <p:sp>
        <p:nvSpPr>
          <p:cNvPr id="620" name="Google Shape;620;p39"/>
          <p:cNvSpPr txBox="1"/>
          <p:nvPr/>
        </p:nvSpPr>
        <p:spPr>
          <a:xfrm>
            <a:off x="1047750" y="2847975"/>
            <a:ext cx="2793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Detecting 77% of fraud in the test set = Potential savings of millions in improper payments.</a:t>
            </a:r>
            <a:endParaRPr/>
          </a:p>
        </p:txBody>
      </p:sp>
      <p:pic>
        <p:nvPicPr>
          <p:cNvPr id="621" name="Google Shape;621;p3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57726" y="196215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39"/>
          <p:cNvSpPr txBox="1"/>
          <p:nvPr/>
        </p:nvSpPr>
        <p:spPr>
          <a:xfrm>
            <a:off x="4629101" y="2486025"/>
            <a:ext cx="293364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EFFICIENCY LIFT</a:t>
            </a:r>
            <a:endParaRPr/>
          </a:p>
        </p:txBody>
      </p:sp>
      <p:sp>
        <p:nvSpPr>
          <p:cNvPr id="623" name="Google Shape;623;p39"/>
          <p:cNvSpPr txBox="1"/>
          <p:nvPr/>
        </p:nvSpPr>
        <p:spPr>
          <a:xfrm>
            <a:off x="4698950" y="2847975"/>
            <a:ext cx="2793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84% reduction</a:t>
            </a: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 in manual review volume. Investigators focus only on high-probability targets.</a:t>
            </a:r>
            <a:endParaRPr/>
          </a:p>
        </p:txBody>
      </p:sp>
      <p:pic>
        <p:nvPicPr>
          <p:cNvPr id="624" name="Google Shape;624;p3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80512" y="196215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39"/>
          <p:cNvSpPr txBox="1"/>
          <p:nvPr/>
        </p:nvSpPr>
        <p:spPr>
          <a:xfrm>
            <a:off x="8280298" y="2486025"/>
            <a:ext cx="2933804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E3875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RISK MITIGATION</a:t>
            </a:r>
            <a:endParaRPr/>
          </a:p>
        </p:txBody>
      </p:sp>
      <p:sp>
        <p:nvSpPr>
          <p:cNvPr id="626" name="Google Shape;626;p39"/>
          <p:cNvSpPr txBox="1"/>
          <p:nvPr/>
        </p:nvSpPr>
        <p:spPr>
          <a:xfrm>
            <a:off x="8350150" y="2847975"/>
            <a:ext cx="2794099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2E364B"/>
                </a:solidFill>
                <a:latin typeface="Barlow"/>
                <a:ea typeface="Barlow"/>
                <a:cs typeface="Barlow"/>
                <a:sym typeface="Barlow"/>
              </a:rPr>
              <a:t>Moving from "Pay and Chase" to Pre-payment flags reduces the recovery burden.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1" name="Google Shape;631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727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0"/>
          <p:cNvSpPr txBox="1"/>
          <p:nvPr/>
        </p:nvSpPr>
        <p:spPr>
          <a:xfrm>
            <a:off x="646509" y="1957387"/>
            <a:ext cx="485060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THANK YOU</a:t>
            </a:r>
            <a:endParaRPr/>
          </a:p>
        </p:txBody>
      </p:sp>
      <p:sp>
        <p:nvSpPr>
          <p:cNvPr id="633" name="Google Shape;633;p40"/>
          <p:cNvSpPr txBox="1"/>
          <p:nvPr/>
        </p:nvSpPr>
        <p:spPr>
          <a:xfrm>
            <a:off x="2003107" y="4789299"/>
            <a:ext cx="178022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28</Slides>
  <Notes>28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Ali Mohamed Tharwat Mohamed Ali</cp:lastModifiedBy>
  <cp:revision>1</cp:revision>
  <dcterms:modified xsi:type="dcterms:W3CDTF">2025-12-04T02:12:26Z</dcterms:modified>
</cp:coreProperties>
</file>